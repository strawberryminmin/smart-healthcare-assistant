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6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415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415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25" y="85306"/>
            <a:ext cx="7352665" cy="75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193" y="1574673"/>
            <a:ext cx="3738245" cy="17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415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33044" y="6605270"/>
            <a:ext cx="347599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speech-to-tex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ho.int/" TargetMode="External"/><Relationship Id="rId4" Type="http://schemas.openxmlformats.org/officeDocument/2006/relationships/hyperlink" Target="https://cloud.google.com/transla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39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142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SMART</a:t>
            </a:r>
            <a:r>
              <a:rPr spc="-125" dirty="0"/>
              <a:t> </a:t>
            </a:r>
            <a:r>
              <a:rPr spc="-30" dirty="0"/>
              <a:t>HEALTHCARE</a:t>
            </a:r>
            <a:r>
              <a:rPr spc="-125" dirty="0"/>
              <a:t> </a:t>
            </a:r>
            <a:r>
              <a:rPr spc="-20" dirty="0"/>
              <a:t>ASSISTANT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6237" y="238125"/>
            <a:ext cx="8391525" cy="5291455"/>
            <a:chOff x="376237" y="238125"/>
            <a:chExt cx="8391525" cy="52914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500" y="238125"/>
              <a:ext cx="1333499" cy="6668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0" y="1524000"/>
              <a:ext cx="8382000" cy="4000500"/>
            </a:xfrm>
            <a:custGeom>
              <a:avLst/>
              <a:gdLst/>
              <a:ahLst/>
              <a:cxnLst/>
              <a:rect l="l" t="t" r="r" b="b"/>
              <a:pathLst>
                <a:path w="8382000" h="4000500">
                  <a:moveTo>
                    <a:pt x="8267705" y="4000499"/>
                  </a:moveTo>
                  <a:lnTo>
                    <a:pt x="114294" y="4000499"/>
                  </a:lnTo>
                  <a:lnTo>
                    <a:pt x="69805" y="3991518"/>
                  </a:lnTo>
                  <a:lnTo>
                    <a:pt x="33476" y="3967023"/>
                  </a:lnTo>
                  <a:lnTo>
                    <a:pt x="8981" y="3930694"/>
                  </a:lnTo>
                  <a:lnTo>
                    <a:pt x="0" y="3886205"/>
                  </a:lnTo>
                  <a:lnTo>
                    <a:pt x="0" y="114294"/>
                  </a:lnTo>
                  <a:lnTo>
                    <a:pt x="8981" y="69805"/>
                  </a:lnTo>
                  <a:lnTo>
                    <a:pt x="33476" y="33475"/>
                  </a:lnTo>
                  <a:lnTo>
                    <a:pt x="69805" y="8981"/>
                  </a:lnTo>
                  <a:lnTo>
                    <a:pt x="114294" y="0"/>
                  </a:lnTo>
                  <a:lnTo>
                    <a:pt x="8267705" y="0"/>
                  </a:lnTo>
                  <a:lnTo>
                    <a:pt x="8311444" y="8700"/>
                  </a:lnTo>
                  <a:lnTo>
                    <a:pt x="8348524" y="33475"/>
                  </a:lnTo>
                  <a:lnTo>
                    <a:pt x="8373299" y="70555"/>
                  </a:lnTo>
                  <a:lnTo>
                    <a:pt x="8381999" y="114294"/>
                  </a:lnTo>
                  <a:lnTo>
                    <a:pt x="8381999" y="3886205"/>
                  </a:lnTo>
                  <a:lnTo>
                    <a:pt x="8373018" y="3930694"/>
                  </a:lnTo>
                  <a:lnTo>
                    <a:pt x="8348524" y="3967023"/>
                  </a:lnTo>
                  <a:lnTo>
                    <a:pt x="8312194" y="3991518"/>
                  </a:lnTo>
                  <a:lnTo>
                    <a:pt x="8267705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524000"/>
              <a:ext cx="8382000" cy="4000500"/>
            </a:xfrm>
            <a:custGeom>
              <a:avLst/>
              <a:gdLst/>
              <a:ahLst/>
              <a:cxnLst/>
              <a:rect l="l" t="t" r="r" b="b"/>
              <a:pathLst>
                <a:path w="8382000" h="4000500">
                  <a:moveTo>
                    <a:pt x="0" y="114294"/>
                  </a:moveTo>
                  <a:lnTo>
                    <a:pt x="8981" y="69805"/>
                  </a:lnTo>
                  <a:lnTo>
                    <a:pt x="33476" y="33475"/>
                  </a:lnTo>
                  <a:lnTo>
                    <a:pt x="69805" y="8981"/>
                  </a:lnTo>
                  <a:lnTo>
                    <a:pt x="114294" y="0"/>
                  </a:lnTo>
                  <a:lnTo>
                    <a:pt x="8267705" y="0"/>
                  </a:lnTo>
                  <a:lnTo>
                    <a:pt x="8311444" y="8700"/>
                  </a:lnTo>
                  <a:lnTo>
                    <a:pt x="8348524" y="33475"/>
                  </a:lnTo>
                  <a:lnTo>
                    <a:pt x="8373299" y="70555"/>
                  </a:lnTo>
                  <a:lnTo>
                    <a:pt x="8381999" y="114294"/>
                  </a:lnTo>
                  <a:lnTo>
                    <a:pt x="8381999" y="3886205"/>
                  </a:lnTo>
                  <a:lnTo>
                    <a:pt x="8373018" y="3930694"/>
                  </a:lnTo>
                  <a:lnTo>
                    <a:pt x="8348524" y="3967023"/>
                  </a:lnTo>
                  <a:lnTo>
                    <a:pt x="8312194" y="3991518"/>
                  </a:lnTo>
                  <a:lnTo>
                    <a:pt x="8267705" y="4000499"/>
                  </a:lnTo>
                  <a:lnTo>
                    <a:pt x="114294" y="4000499"/>
                  </a:lnTo>
                  <a:lnTo>
                    <a:pt x="69805" y="3991518"/>
                  </a:lnTo>
                  <a:lnTo>
                    <a:pt x="33476" y="3967023"/>
                  </a:lnTo>
                  <a:lnTo>
                    <a:pt x="8981" y="3930694"/>
                  </a:lnTo>
                  <a:lnTo>
                    <a:pt x="0" y="3886205"/>
                  </a:lnTo>
                  <a:lnTo>
                    <a:pt x="0" y="114294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4050" y="1643126"/>
            <a:ext cx="3975100" cy="160655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b="1" dirty="0">
                <a:solidFill>
                  <a:srgbClr val="3B82F6"/>
                </a:solidFill>
                <a:latin typeface="Calibri"/>
                <a:cs typeface="Calibri"/>
              </a:rPr>
              <a:t>PRESENTED</a:t>
            </a:r>
            <a:r>
              <a:rPr sz="1800" b="1" spc="-90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B82F6"/>
                </a:solidFill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dirty="0">
                <a:solidFill>
                  <a:srgbClr val="1E293B"/>
                </a:solidFill>
                <a:latin typeface="Calibri"/>
                <a:cs typeface="Calibri"/>
              </a:rPr>
              <a:t>Bharati</a:t>
            </a:r>
            <a:r>
              <a:rPr sz="1800" spc="-55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E293B"/>
                </a:solidFill>
                <a:latin typeface="Calibri"/>
                <a:cs typeface="Calibri"/>
              </a:rPr>
              <a:t>Priyadarsini</a:t>
            </a:r>
            <a:r>
              <a:rPr sz="1800" spc="-55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E293B"/>
                </a:solidFill>
                <a:latin typeface="Calibri"/>
                <a:cs typeface="Calibri"/>
              </a:rPr>
              <a:t>Jena</a:t>
            </a:r>
            <a:r>
              <a:rPr sz="1800" spc="-4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4738B"/>
                </a:solidFill>
                <a:latin typeface="Calibri"/>
                <a:cs typeface="Calibri"/>
              </a:rPr>
              <a:t>(Reg</a:t>
            </a:r>
            <a:r>
              <a:rPr sz="1400" spc="-4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4738B"/>
                </a:solidFill>
                <a:latin typeface="Calibri"/>
                <a:cs typeface="Calibri"/>
              </a:rPr>
              <a:t>no.:</a:t>
            </a:r>
            <a:r>
              <a:rPr sz="1400" spc="-4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Calibri"/>
                <a:cs typeface="Calibri"/>
              </a:rPr>
              <a:t>2302010060)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dirty="0">
                <a:solidFill>
                  <a:srgbClr val="1E293B"/>
                </a:solidFill>
                <a:latin typeface="Calibri"/>
                <a:cs typeface="Calibri"/>
              </a:rPr>
              <a:t>Jasmine</a:t>
            </a:r>
            <a:r>
              <a:rPr sz="1800" spc="-7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E293B"/>
                </a:solidFill>
                <a:latin typeface="Calibri"/>
                <a:cs typeface="Calibri"/>
              </a:rPr>
              <a:t>Tripathy</a:t>
            </a:r>
            <a:r>
              <a:rPr sz="1800" spc="-6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4738B"/>
                </a:solidFill>
                <a:latin typeface="Calibri"/>
                <a:cs typeface="Calibri"/>
              </a:rPr>
              <a:t>(Reg</a:t>
            </a:r>
            <a:r>
              <a:rPr sz="1400" spc="-5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4738B"/>
                </a:solidFill>
                <a:latin typeface="Calibri"/>
                <a:cs typeface="Calibri"/>
              </a:rPr>
              <a:t>no.:</a:t>
            </a:r>
            <a:r>
              <a:rPr sz="1400" spc="-5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Calibri"/>
                <a:cs typeface="Calibri"/>
              </a:rPr>
              <a:t>2302010086)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dirty="0">
                <a:solidFill>
                  <a:srgbClr val="1E293B"/>
                </a:solidFill>
                <a:latin typeface="Calibri"/>
                <a:cs typeface="Calibri"/>
              </a:rPr>
              <a:t>Dibya</a:t>
            </a:r>
            <a:r>
              <a:rPr sz="1800" spc="-85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E293B"/>
                </a:solidFill>
                <a:latin typeface="Calibri"/>
                <a:cs typeface="Calibri"/>
              </a:rPr>
              <a:t>Ranjan</a:t>
            </a:r>
            <a:r>
              <a:rPr sz="1800" spc="-8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E293B"/>
                </a:solidFill>
                <a:latin typeface="Calibri"/>
                <a:cs typeface="Calibri"/>
              </a:rPr>
              <a:t>Behera</a:t>
            </a:r>
            <a:r>
              <a:rPr sz="1800" spc="-7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4738B"/>
                </a:solidFill>
                <a:latin typeface="Calibri"/>
                <a:cs typeface="Calibri"/>
              </a:rPr>
              <a:t>(Reg</a:t>
            </a:r>
            <a:r>
              <a:rPr sz="1400" spc="-6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4738B"/>
                </a:solidFill>
                <a:latin typeface="Calibri"/>
                <a:cs typeface="Calibri"/>
              </a:rPr>
              <a:t>no.:</a:t>
            </a:r>
            <a:r>
              <a:rPr sz="1400" spc="-6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Calibri"/>
                <a:cs typeface="Calibri"/>
              </a:rPr>
              <a:t>2302010078)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54600" y="3865894"/>
            <a:ext cx="2386965" cy="82550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700" b="1" dirty="0">
                <a:solidFill>
                  <a:srgbClr val="3B82F6"/>
                </a:solidFill>
                <a:latin typeface="Calibri"/>
                <a:cs typeface="Calibri"/>
              </a:rPr>
              <a:t>GUIDED</a:t>
            </a:r>
            <a:r>
              <a:rPr sz="1700" b="1" spc="-90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1700" b="1" spc="-25" dirty="0">
                <a:solidFill>
                  <a:srgbClr val="3B82F6"/>
                </a:solidFill>
                <a:latin typeface="Calibri"/>
                <a:cs typeface="Calibri"/>
              </a:rPr>
              <a:t>BY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700" b="1" spc="-40" dirty="0">
                <a:solidFill>
                  <a:srgbClr val="1E293B"/>
                </a:solidFill>
                <a:latin typeface="Calibri"/>
                <a:cs typeface="Calibri"/>
              </a:rPr>
              <a:t>Dr.</a:t>
            </a:r>
            <a:r>
              <a:rPr sz="1700" b="1" spc="-55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E293B"/>
                </a:solidFill>
                <a:latin typeface="Calibri"/>
                <a:cs typeface="Calibri"/>
              </a:rPr>
              <a:t>Subhashish</a:t>
            </a:r>
            <a:r>
              <a:rPr sz="1700" b="1" spc="-5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E293B"/>
                </a:solidFill>
                <a:latin typeface="Calibri"/>
                <a:cs typeface="Calibri"/>
              </a:rPr>
              <a:t>Mohapatra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650" y="3806004"/>
            <a:ext cx="4304665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75568"/>
                </a:solidFill>
                <a:latin typeface="Calibri"/>
                <a:cs typeface="Calibri"/>
              </a:rPr>
              <a:t>D</a:t>
            </a:r>
            <a:r>
              <a:rPr sz="1500" b="1" dirty="0">
                <a:solidFill>
                  <a:srgbClr val="475568"/>
                </a:solidFill>
                <a:latin typeface="Calibri"/>
                <a:cs typeface="Calibri"/>
              </a:rPr>
              <a:t>epartment</a:t>
            </a:r>
            <a:r>
              <a:rPr sz="1500" b="1" spc="-40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75568"/>
                </a:solidFill>
                <a:latin typeface="Calibri"/>
                <a:cs typeface="Calibri"/>
              </a:rPr>
              <a:t>of</a:t>
            </a:r>
            <a:r>
              <a:rPr sz="1500" b="1" spc="-35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475568"/>
                </a:solidFill>
                <a:latin typeface="Calibri"/>
                <a:cs typeface="Calibri"/>
              </a:rPr>
              <a:t>Computer</a:t>
            </a:r>
            <a:r>
              <a:rPr sz="1500" b="1" spc="-35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75568"/>
                </a:solidFill>
                <a:latin typeface="Calibri"/>
                <a:cs typeface="Calibri"/>
              </a:rPr>
              <a:t>Science</a:t>
            </a:r>
            <a:r>
              <a:rPr sz="1500" b="1" spc="-35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75568"/>
                </a:solidFill>
                <a:latin typeface="Calibri"/>
                <a:cs typeface="Calibri"/>
              </a:rPr>
              <a:t>&amp;</a:t>
            </a:r>
            <a:r>
              <a:rPr sz="1500" b="1" spc="-35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75568"/>
                </a:solidFill>
                <a:latin typeface="Calibri"/>
                <a:cs typeface="Calibri"/>
              </a:rPr>
              <a:t>Engineering,</a:t>
            </a:r>
            <a:r>
              <a:rPr sz="1500" b="1" spc="-35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475568"/>
                </a:solidFill>
                <a:latin typeface="Calibri"/>
                <a:cs typeface="Calibri"/>
              </a:rPr>
              <a:t>SOET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475568"/>
                </a:solidFill>
                <a:latin typeface="Calibri"/>
                <a:cs typeface="Calibri"/>
              </a:rPr>
              <a:t>DRIEMS</a:t>
            </a:r>
            <a:r>
              <a:rPr sz="1500" spc="-80" dirty="0">
                <a:solidFill>
                  <a:srgbClr val="475568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75568"/>
                </a:solidFill>
                <a:latin typeface="Calibri"/>
                <a:cs typeface="Calibri"/>
              </a:rPr>
              <a:t>University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500" b="1" spc="-10" dirty="0">
                <a:solidFill>
                  <a:srgbClr val="94A3B8"/>
                </a:solidFill>
                <a:latin typeface="Calibri"/>
                <a:cs typeface="Calibri"/>
              </a:rPr>
              <a:t>DATE:03/03/2026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335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Table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Contents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42875"/>
            <a:ext cx="9144000" cy="6715125"/>
            <a:chOff x="0" y="142875"/>
            <a:chExt cx="9144000" cy="6715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500" y="142875"/>
              <a:ext cx="1333499" cy="6668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477000"/>
              <a:ext cx="9144000" cy="381000"/>
            </a:xfrm>
            <a:custGeom>
              <a:avLst/>
              <a:gdLst/>
              <a:ahLst/>
              <a:cxnLst/>
              <a:rect l="l" t="t" r="r" b="b"/>
              <a:pathLst>
                <a:path w="9144000" h="381000">
                  <a:moveTo>
                    <a:pt x="91439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7200" y="1415034"/>
            <a:ext cx="1676400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01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Introduction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7200" y="1980438"/>
            <a:ext cx="1466850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02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Objectives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2545842"/>
            <a:ext cx="2204085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03</a:t>
            </a:r>
            <a:r>
              <a:rPr sz="2200" b="1" spc="140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E293B"/>
                </a:solidFill>
                <a:latin typeface="Calibri"/>
                <a:cs typeface="Calibri"/>
              </a:rPr>
              <a:t>Literature</a:t>
            </a:r>
            <a:r>
              <a:rPr sz="2000" spc="-15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Review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200" y="3111246"/>
            <a:ext cx="1783714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04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Methodology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200" y="3676650"/>
            <a:ext cx="1118870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05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Results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200" y="4242054"/>
            <a:ext cx="1468755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06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Discussion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00" y="4807458"/>
            <a:ext cx="1517650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07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Conclusion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200" y="5372861"/>
            <a:ext cx="1536700" cy="4514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200" b="1" dirty="0">
                <a:solidFill>
                  <a:srgbClr val="3B82F6"/>
                </a:solidFill>
                <a:latin typeface="Calibri"/>
                <a:cs typeface="Calibri"/>
              </a:rPr>
              <a:t>08</a:t>
            </a:r>
            <a:r>
              <a:rPr sz="2200" b="1" spc="185" dirty="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E293B"/>
                </a:solidFill>
                <a:latin typeface="Calibri"/>
                <a:cs typeface="Calibri"/>
              </a:rPr>
              <a:t>References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170941"/>
            <a:ext cx="2390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6237" y="142875"/>
            <a:ext cx="8387080" cy="6186805"/>
            <a:chOff x="376237" y="142875"/>
            <a:chExt cx="8387080" cy="61868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500" y="142875"/>
              <a:ext cx="1333499" cy="6668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0" y="1333495"/>
              <a:ext cx="2667000" cy="4991100"/>
            </a:xfrm>
            <a:custGeom>
              <a:avLst/>
              <a:gdLst/>
              <a:ahLst/>
              <a:cxnLst/>
              <a:rect l="l" t="t" r="r" b="b"/>
              <a:pathLst>
                <a:path w="2667000" h="4991100">
                  <a:moveTo>
                    <a:pt x="2552719" y="4991023"/>
                  </a:moveTo>
                  <a:lnTo>
                    <a:pt x="114280" y="4991023"/>
                  </a:lnTo>
                  <a:lnTo>
                    <a:pt x="69797" y="4982043"/>
                  </a:lnTo>
                  <a:lnTo>
                    <a:pt x="33472" y="4957551"/>
                  </a:lnTo>
                  <a:lnTo>
                    <a:pt x="8980" y="4921226"/>
                  </a:lnTo>
                  <a:lnTo>
                    <a:pt x="0" y="4876742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76742"/>
                  </a:lnTo>
                  <a:lnTo>
                    <a:pt x="2658019" y="4921226"/>
                  </a:lnTo>
                  <a:lnTo>
                    <a:pt x="2633527" y="4957551"/>
                  </a:lnTo>
                  <a:lnTo>
                    <a:pt x="2597202" y="4982043"/>
                  </a:lnTo>
                  <a:lnTo>
                    <a:pt x="2552719" y="4991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333495"/>
              <a:ext cx="2667000" cy="4991100"/>
            </a:xfrm>
            <a:custGeom>
              <a:avLst/>
              <a:gdLst/>
              <a:ahLst/>
              <a:cxnLst/>
              <a:rect l="l" t="t" r="r" b="b"/>
              <a:pathLst>
                <a:path w="2667000" h="49911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76742"/>
                  </a:lnTo>
                  <a:lnTo>
                    <a:pt x="2658019" y="4921226"/>
                  </a:lnTo>
                  <a:lnTo>
                    <a:pt x="2633527" y="4957551"/>
                  </a:lnTo>
                  <a:lnTo>
                    <a:pt x="2597202" y="4982043"/>
                  </a:lnTo>
                  <a:lnTo>
                    <a:pt x="2552719" y="4991023"/>
                  </a:lnTo>
                  <a:lnTo>
                    <a:pt x="114280" y="4991023"/>
                  </a:lnTo>
                  <a:lnTo>
                    <a:pt x="69797" y="4982043"/>
                  </a:lnTo>
                  <a:lnTo>
                    <a:pt x="33472" y="4957551"/>
                  </a:lnTo>
                  <a:lnTo>
                    <a:pt x="8980" y="4921226"/>
                  </a:lnTo>
                  <a:lnTo>
                    <a:pt x="0" y="4876742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1333499"/>
              <a:ext cx="2667000" cy="713740"/>
            </a:xfrm>
            <a:custGeom>
              <a:avLst/>
              <a:gdLst/>
              <a:ahLst/>
              <a:cxnLst/>
              <a:rect l="l" t="t" r="r" b="b"/>
              <a:pathLst>
                <a:path w="2667000" h="713739">
                  <a:moveTo>
                    <a:pt x="2667000" y="142608"/>
                  </a:moveTo>
                  <a:lnTo>
                    <a:pt x="2656141" y="88036"/>
                  </a:lnTo>
                  <a:lnTo>
                    <a:pt x="2625229" y="41770"/>
                  </a:lnTo>
                  <a:lnTo>
                    <a:pt x="2578963" y="10858"/>
                  </a:lnTo>
                  <a:lnTo>
                    <a:pt x="2524391" y="0"/>
                  </a:lnTo>
                  <a:lnTo>
                    <a:pt x="142595" y="0"/>
                  </a:lnTo>
                  <a:lnTo>
                    <a:pt x="97523" y="7277"/>
                  </a:lnTo>
                  <a:lnTo>
                    <a:pt x="58381" y="27520"/>
                  </a:lnTo>
                  <a:lnTo>
                    <a:pt x="27508" y="58381"/>
                  </a:lnTo>
                  <a:lnTo>
                    <a:pt x="7264" y="97523"/>
                  </a:lnTo>
                  <a:lnTo>
                    <a:pt x="0" y="142608"/>
                  </a:lnTo>
                  <a:lnTo>
                    <a:pt x="0" y="356501"/>
                  </a:lnTo>
                  <a:lnTo>
                    <a:pt x="0" y="570407"/>
                  </a:lnTo>
                  <a:lnTo>
                    <a:pt x="0" y="713193"/>
                  </a:lnTo>
                  <a:lnTo>
                    <a:pt x="2667000" y="713193"/>
                  </a:lnTo>
                  <a:lnTo>
                    <a:pt x="2667000" y="570407"/>
                  </a:lnTo>
                  <a:lnTo>
                    <a:pt x="2667000" y="356501"/>
                  </a:lnTo>
                  <a:lnTo>
                    <a:pt x="2667000" y="14260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8820" y="1545437"/>
            <a:ext cx="1470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Brief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Background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75" y="2146028"/>
            <a:ext cx="22790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E40AE"/>
                </a:solidFill>
                <a:latin typeface="Calibri"/>
                <a:cs typeface="Calibri"/>
              </a:rPr>
              <a:t>Smart</a:t>
            </a:r>
            <a:r>
              <a:rPr sz="1300" b="1" spc="-30" dirty="0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E40AE"/>
                </a:solidFill>
                <a:latin typeface="Calibri"/>
                <a:cs typeface="Calibri"/>
              </a:rPr>
              <a:t>Healthcare</a:t>
            </a:r>
            <a:r>
              <a:rPr sz="1300" b="1" spc="-30" dirty="0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E40AE"/>
                </a:solidFill>
                <a:latin typeface="Calibri"/>
                <a:cs typeface="Calibri"/>
              </a:rPr>
              <a:t>Assistant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175" y="2488928"/>
            <a:ext cx="2150110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web-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based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intelligent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system designed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simplify</a:t>
            </a:r>
            <a:r>
              <a:rPr sz="1300" spc="500" dirty="0">
                <a:solidFill>
                  <a:srgbClr val="334155"/>
                </a:solidFill>
                <a:latin typeface="Calibri"/>
                <a:cs typeface="Calibri"/>
              </a:rPr>
              <a:t>  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patient–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doctor</a:t>
            </a:r>
            <a:r>
              <a:rPr sz="13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communication.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175" y="3231878"/>
            <a:ext cx="2365375" cy="8235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Smart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Assistant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is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AI-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driven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web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application designed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simplify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patient interaction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systems.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1175" y="4174853"/>
            <a:ext cx="12363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4155"/>
                </a:solidFill>
                <a:latin typeface="Calibri"/>
                <a:cs typeface="Calibri"/>
              </a:rPr>
              <a:t>Key</a:t>
            </a:r>
            <a:r>
              <a:rPr sz="1300" b="1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334155"/>
                </a:solidFill>
                <a:latin typeface="Calibri"/>
                <a:cs typeface="Calibri"/>
              </a:rPr>
              <a:t>Technologies: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083" y="4422503"/>
            <a:ext cx="1917064" cy="11188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0360" marR="48260" indent="-328295">
              <a:lnSpc>
                <a:spcPct val="101000"/>
              </a:lnSpc>
              <a:spcBef>
                <a:spcPts val="85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NLP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(Natural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Language Processing)</a:t>
            </a:r>
            <a:endParaRPr sz="1300">
              <a:latin typeface="Calibri"/>
              <a:cs typeface="Calibri"/>
            </a:endParaRPr>
          </a:p>
          <a:p>
            <a:pPr marL="340360" marR="5080" indent="-328295">
              <a:lnSpc>
                <a:spcPct val="101000"/>
              </a:lnSpc>
              <a:spcBef>
                <a:spcPts val="370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ASR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(Automatic</a:t>
            </a:r>
            <a:r>
              <a:rPr sz="13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Speech Recognition)</a:t>
            </a:r>
            <a:endParaRPr sz="1300">
              <a:latin typeface="Calibri"/>
              <a:cs typeface="Calibri"/>
            </a:endParaRPr>
          </a:p>
          <a:p>
            <a:pPr marL="340360" indent="-327660">
              <a:lnSpc>
                <a:spcPct val="100000"/>
              </a:lnSpc>
              <a:spcBef>
                <a:spcPts val="390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TTS</a:t>
            </a:r>
            <a:r>
              <a:rPr sz="1300" spc="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(Text-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to-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Speech)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33737" y="1328678"/>
            <a:ext cx="2676525" cy="5000625"/>
            <a:chOff x="3233737" y="1328678"/>
            <a:chExt cx="2676525" cy="5000625"/>
          </a:xfrm>
        </p:grpSpPr>
        <p:sp>
          <p:nvSpPr>
            <p:cNvPr id="16" name="object 16"/>
            <p:cNvSpPr/>
            <p:nvPr/>
          </p:nvSpPr>
          <p:spPr>
            <a:xfrm>
              <a:off x="3238500" y="1333441"/>
              <a:ext cx="2667000" cy="4991100"/>
            </a:xfrm>
            <a:custGeom>
              <a:avLst/>
              <a:gdLst/>
              <a:ahLst/>
              <a:cxnLst/>
              <a:rect l="l" t="t" r="r" b="b"/>
              <a:pathLst>
                <a:path w="2667000" h="4991100">
                  <a:moveTo>
                    <a:pt x="2552719" y="4991023"/>
                  </a:moveTo>
                  <a:lnTo>
                    <a:pt x="114280" y="4991023"/>
                  </a:lnTo>
                  <a:lnTo>
                    <a:pt x="69797" y="4982043"/>
                  </a:lnTo>
                  <a:lnTo>
                    <a:pt x="33472" y="4957551"/>
                  </a:lnTo>
                  <a:lnTo>
                    <a:pt x="8980" y="4921225"/>
                  </a:lnTo>
                  <a:lnTo>
                    <a:pt x="0" y="4876742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76742"/>
                  </a:lnTo>
                  <a:lnTo>
                    <a:pt x="2658019" y="4921225"/>
                  </a:lnTo>
                  <a:lnTo>
                    <a:pt x="2633527" y="4957551"/>
                  </a:lnTo>
                  <a:lnTo>
                    <a:pt x="2597202" y="4982043"/>
                  </a:lnTo>
                  <a:lnTo>
                    <a:pt x="2552719" y="4991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38500" y="1333441"/>
              <a:ext cx="2667000" cy="4991100"/>
            </a:xfrm>
            <a:custGeom>
              <a:avLst/>
              <a:gdLst/>
              <a:ahLst/>
              <a:cxnLst/>
              <a:rect l="l" t="t" r="r" b="b"/>
              <a:pathLst>
                <a:path w="2667000" h="49911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76742"/>
                  </a:lnTo>
                  <a:lnTo>
                    <a:pt x="2658019" y="4921225"/>
                  </a:lnTo>
                  <a:lnTo>
                    <a:pt x="2633527" y="4957551"/>
                  </a:lnTo>
                  <a:lnTo>
                    <a:pt x="2597202" y="4982043"/>
                  </a:lnTo>
                  <a:lnTo>
                    <a:pt x="2552719" y="4991023"/>
                  </a:lnTo>
                  <a:lnTo>
                    <a:pt x="114280" y="4991023"/>
                  </a:lnTo>
                  <a:lnTo>
                    <a:pt x="69797" y="4982043"/>
                  </a:lnTo>
                  <a:lnTo>
                    <a:pt x="33472" y="4957551"/>
                  </a:lnTo>
                  <a:lnTo>
                    <a:pt x="8980" y="4921225"/>
                  </a:lnTo>
                  <a:lnTo>
                    <a:pt x="0" y="4876742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38500" y="1333448"/>
              <a:ext cx="2667000" cy="713740"/>
            </a:xfrm>
            <a:custGeom>
              <a:avLst/>
              <a:gdLst/>
              <a:ahLst/>
              <a:cxnLst/>
              <a:rect l="l" t="t" r="r" b="b"/>
              <a:pathLst>
                <a:path w="2667000" h="713739">
                  <a:moveTo>
                    <a:pt x="2667000" y="142595"/>
                  </a:moveTo>
                  <a:lnTo>
                    <a:pt x="2656141" y="88023"/>
                  </a:lnTo>
                  <a:lnTo>
                    <a:pt x="2625229" y="41770"/>
                  </a:lnTo>
                  <a:lnTo>
                    <a:pt x="2578963" y="10858"/>
                  </a:lnTo>
                  <a:lnTo>
                    <a:pt x="2524391" y="0"/>
                  </a:lnTo>
                  <a:lnTo>
                    <a:pt x="142595" y="0"/>
                  </a:lnTo>
                  <a:lnTo>
                    <a:pt x="97523" y="7264"/>
                  </a:lnTo>
                  <a:lnTo>
                    <a:pt x="58381" y="27508"/>
                  </a:lnTo>
                  <a:lnTo>
                    <a:pt x="27508" y="58381"/>
                  </a:lnTo>
                  <a:lnTo>
                    <a:pt x="7264" y="97523"/>
                  </a:lnTo>
                  <a:lnTo>
                    <a:pt x="0" y="142595"/>
                  </a:lnTo>
                  <a:lnTo>
                    <a:pt x="0" y="356501"/>
                  </a:lnTo>
                  <a:lnTo>
                    <a:pt x="0" y="570395"/>
                  </a:lnTo>
                  <a:lnTo>
                    <a:pt x="0" y="713193"/>
                  </a:lnTo>
                  <a:lnTo>
                    <a:pt x="2667000" y="713193"/>
                  </a:lnTo>
                  <a:lnTo>
                    <a:pt x="2667000" y="570395"/>
                  </a:lnTo>
                  <a:lnTo>
                    <a:pt x="2667000" y="356501"/>
                  </a:lnTo>
                  <a:lnTo>
                    <a:pt x="2667000" y="142595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98837" y="1545383"/>
            <a:ext cx="17449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Importance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8675" y="2145974"/>
            <a:ext cx="10928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5F46"/>
                </a:solidFill>
                <a:latin typeface="Calibri"/>
                <a:cs typeface="Calibri"/>
              </a:rPr>
              <a:t>Solving</a:t>
            </a:r>
            <a:r>
              <a:rPr sz="1300" b="1" spc="-75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65F46"/>
                </a:solidFill>
                <a:latin typeface="Calibri"/>
                <a:cs typeface="Calibri"/>
              </a:rPr>
              <a:t>Barriers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68675" y="2488874"/>
            <a:ext cx="2218690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Addresses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language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barriers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that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lead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miscommunication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wrong</a:t>
            </a:r>
            <a:r>
              <a:rPr sz="13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diagnosis.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68675" y="3231824"/>
            <a:ext cx="2315845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This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system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helps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bridging communication</a:t>
            </a:r>
            <a:r>
              <a:rPr sz="13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gaps</a:t>
            </a:r>
            <a:r>
              <a:rPr sz="13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between patients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providers.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68675" y="3974774"/>
            <a:ext cx="214566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It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also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improves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accessibility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for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rural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non-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technical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users.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8675" y="4517699"/>
            <a:ext cx="9848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sz="1300" b="1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334155"/>
                </a:solidFill>
                <a:latin typeface="Calibri"/>
                <a:cs typeface="Calibri"/>
              </a:rPr>
              <a:t>Benefits: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97583" y="4860599"/>
            <a:ext cx="2120265" cy="11188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0360" marR="549910" indent="-328295">
              <a:lnSpc>
                <a:spcPct val="101000"/>
              </a:lnSpc>
              <a:spcBef>
                <a:spcPts val="85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modal</a:t>
            </a:r>
            <a:r>
              <a:rPr sz="13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input (Text/Voice)</a:t>
            </a:r>
            <a:endParaRPr sz="1300">
              <a:latin typeface="Calibri"/>
              <a:cs typeface="Calibri"/>
            </a:endParaRPr>
          </a:p>
          <a:p>
            <a:pPr marL="340360" marR="236854" indent="-328295">
              <a:lnSpc>
                <a:spcPct val="101000"/>
              </a:lnSpc>
              <a:spcBef>
                <a:spcPts val="370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Understandable</a:t>
            </a:r>
            <a:r>
              <a:rPr sz="13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 outputs</a:t>
            </a:r>
            <a:endParaRPr sz="1300">
              <a:latin typeface="Calibri"/>
              <a:cs typeface="Calibri"/>
            </a:endParaRPr>
          </a:p>
          <a:p>
            <a:pPr marL="340360" indent="-327660">
              <a:lnSpc>
                <a:spcPct val="100000"/>
              </a:lnSpc>
              <a:spcBef>
                <a:spcPts val="390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Quick</a:t>
            </a:r>
            <a:r>
              <a:rPr sz="13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basic</a:t>
            </a:r>
            <a:r>
              <a:rPr sz="13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3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insights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1237" y="1328737"/>
            <a:ext cx="2676525" cy="5000625"/>
            <a:chOff x="6091237" y="1328737"/>
            <a:chExt cx="2676525" cy="5000625"/>
          </a:xfrm>
        </p:grpSpPr>
        <p:sp>
          <p:nvSpPr>
            <p:cNvPr id="27" name="object 27"/>
            <p:cNvSpPr/>
            <p:nvPr/>
          </p:nvSpPr>
          <p:spPr>
            <a:xfrm>
              <a:off x="6096000" y="1333499"/>
              <a:ext cx="2667000" cy="4991100"/>
            </a:xfrm>
            <a:custGeom>
              <a:avLst/>
              <a:gdLst/>
              <a:ahLst/>
              <a:cxnLst/>
              <a:rect l="l" t="t" r="r" b="b"/>
              <a:pathLst>
                <a:path w="2667000" h="4991100">
                  <a:moveTo>
                    <a:pt x="2552718" y="4991023"/>
                  </a:moveTo>
                  <a:lnTo>
                    <a:pt x="114280" y="4991023"/>
                  </a:lnTo>
                  <a:lnTo>
                    <a:pt x="69797" y="4982043"/>
                  </a:lnTo>
                  <a:lnTo>
                    <a:pt x="33472" y="4957551"/>
                  </a:lnTo>
                  <a:lnTo>
                    <a:pt x="8980" y="4921226"/>
                  </a:lnTo>
                  <a:lnTo>
                    <a:pt x="0" y="4876742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76742"/>
                  </a:lnTo>
                  <a:lnTo>
                    <a:pt x="2658019" y="4921226"/>
                  </a:lnTo>
                  <a:lnTo>
                    <a:pt x="2633527" y="4957551"/>
                  </a:lnTo>
                  <a:lnTo>
                    <a:pt x="2597202" y="4982043"/>
                  </a:lnTo>
                  <a:lnTo>
                    <a:pt x="2552718" y="4991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6000" y="1333499"/>
              <a:ext cx="2667000" cy="4991100"/>
            </a:xfrm>
            <a:custGeom>
              <a:avLst/>
              <a:gdLst/>
              <a:ahLst/>
              <a:cxnLst/>
              <a:rect l="l" t="t" r="r" b="b"/>
              <a:pathLst>
                <a:path w="2667000" h="49911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76742"/>
                  </a:lnTo>
                  <a:lnTo>
                    <a:pt x="2658019" y="4921226"/>
                  </a:lnTo>
                  <a:lnTo>
                    <a:pt x="2633527" y="4957551"/>
                  </a:lnTo>
                  <a:lnTo>
                    <a:pt x="2597202" y="4982043"/>
                  </a:lnTo>
                  <a:lnTo>
                    <a:pt x="2552718" y="4991023"/>
                  </a:lnTo>
                  <a:lnTo>
                    <a:pt x="114280" y="4991023"/>
                  </a:lnTo>
                  <a:lnTo>
                    <a:pt x="69797" y="4982043"/>
                  </a:lnTo>
                  <a:lnTo>
                    <a:pt x="33472" y="4957551"/>
                  </a:lnTo>
                  <a:lnTo>
                    <a:pt x="8980" y="4921226"/>
                  </a:lnTo>
                  <a:lnTo>
                    <a:pt x="0" y="4876742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0" y="1333499"/>
              <a:ext cx="2667000" cy="713740"/>
            </a:xfrm>
            <a:custGeom>
              <a:avLst/>
              <a:gdLst/>
              <a:ahLst/>
              <a:cxnLst/>
              <a:rect l="l" t="t" r="r" b="b"/>
              <a:pathLst>
                <a:path w="2667000" h="713739">
                  <a:moveTo>
                    <a:pt x="2667000" y="142608"/>
                  </a:moveTo>
                  <a:lnTo>
                    <a:pt x="2656141" y="88036"/>
                  </a:lnTo>
                  <a:lnTo>
                    <a:pt x="2625229" y="41770"/>
                  </a:lnTo>
                  <a:lnTo>
                    <a:pt x="2578963" y="10858"/>
                  </a:lnTo>
                  <a:lnTo>
                    <a:pt x="2524391" y="0"/>
                  </a:lnTo>
                  <a:lnTo>
                    <a:pt x="142595" y="0"/>
                  </a:lnTo>
                  <a:lnTo>
                    <a:pt x="97523" y="7277"/>
                  </a:lnTo>
                  <a:lnTo>
                    <a:pt x="58381" y="27520"/>
                  </a:lnTo>
                  <a:lnTo>
                    <a:pt x="27508" y="58394"/>
                  </a:lnTo>
                  <a:lnTo>
                    <a:pt x="7264" y="97536"/>
                  </a:lnTo>
                  <a:lnTo>
                    <a:pt x="0" y="142608"/>
                  </a:lnTo>
                  <a:lnTo>
                    <a:pt x="0" y="356501"/>
                  </a:lnTo>
                  <a:lnTo>
                    <a:pt x="0" y="570407"/>
                  </a:lnTo>
                  <a:lnTo>
                    <a:pt x="0" y="713193"/>
                  </a:lnTo>
                  <a:lnTo>
                    <a:pt x="2667000" y="713193"/>
                  </a:lnTo>
                  <a:lnTo>
                    <a:pt x="2667000" y="570407"/>
                  </a:lnTo>
                  <a:lnTo>
                    <a:pt x="2667000" y="356501"/>
                  </a:lnTo>
                  <a:lnTo>
                    <a:pt x="2667000" y="142608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071355" y="1545442"/>
            <a:ext cx="716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Purpose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6175" y="2146032"/>
            <a:ext cx="4070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92400D"/>
                </a:solidFill>
                <a:latin typeface="Calibri"/>
                <a:cs typeface="Calibri"/>
              </a:rPr>
              <a:t>Goals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5084" y="2488932"/>
            <a:ext cx="2131060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0360" marR="5080" indent="-328295">
              <a:lnSpc>
                <a:spcPct val="101000"/>
              </a:lnSpc>
              <a:spcBef>
                <a:spcPts val="85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Provide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preliminary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 insights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improve accessibility.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55084" y="3231882"/>
            <a:ext cx="1964689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0360" marR="5080" indent="-328295">
              <a:lnSpc>
                <a:spcPct val="101000"/>
              </a:lnSpc>
              <a:spcBef>
                <a:spcPts val="85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Demonstrate</a:t>
            </a:r>
            <a:r>
              <a:rPr sz="13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AI's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role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in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improving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healthcare communication.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5084" y="3974832"/>
            <a:ext cx="2131060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0360" marR="5080" indent="-328295">
              <a:lnSpc>
                <a:spcPct val="101000"/>
              </a:lnSpc>
              <a:spcBef>
                <a:spcPts val="85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Explain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mechanics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benefits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voice-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enabled assistants.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55084" y="4774932"/>
            <a:ext cx="2096770" cy="8235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40360" marR="5080" indent="-328295">
              <a:lnSpc>
                <a:spcPct val="101000"/>
              </a:lnSpc>
              <a:spcBef>
                <a:spcPts val="85"/>
              </a:spcBef>
              <a:buFont typeface="Microsoft Sans Serif"/>
              <a:buChar char="●"/>
              <a:tabLst>
                <a:tab pos="340360" algn="l"/>
              </a:tabLst>
            </a:pPr>
            <a:r>
              <a:rPr sz="1300" spc="-6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present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design,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working,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benefits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334155"/>
                </a:solidFill>
                <a:latin typeface="Calibri"/>
                <a:cs typeface="Calibri"/>
              </a:rPr>
              <a:t>a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voice-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enabled</a:t>
            </a:r>
            <a:r>
              <a:rPr sz="1300" spc="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smart healthcare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assistant.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43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0" y="142875"/>
            <a:ext cx="1333499" cy="6668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76237" y="1328737"/>
            <a:ext cx="2676525" cy="4962525"/>
            <a:chOff x="376237" y="1328737"/>
            <a:chExt cx="2676525" cy="4962525"/>
          </a:xfrm>
        </p:grpSpPr>
        <p:sp>
          <p:nvSpPr>
            <p:cNvPr id="6" name="object 6"/>
            <p:cNvSpPr/>
            <p:nvPr/>
          </p:nvSpPr>
          <p:spPr>
            <a:xfrm>
              <a:off x="381000" y="1333500"/>
              <a:ext cx="2667000" cy="4953000"/>
            </a:xfrm>
            <a:custGeom>
              <a:avLst/>
              <a:gdLst/>
              <a:ahLst/>
              <a:cxnLst/>
              <a:rect l="l" t="t" r="r" b="b"/>
              <a:pathLst>
                <a:path w="2667000" h="4953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38719"/>
                  </a:lnTo>
                  <a:lnTo>
                    <a:pt x="2658019" y="4883202"/>
                  </a:lnTo>
                  <a:lnTo>
                    <a:pt x="2633527" y="4919527"/>
                  </a:lnTo>
                  <a:lnTo>
                    <a:pt x="2597202" y="4944019"/>
                  </a:lnTo>
                  <a:lnTo>
                    <a:pt x="2552719" y="4952999"/>
                  </a:lnTo>
                  <a:lnTo>
                    <a:pt x="114280" y="4952999"/>
                  </a:lnTo>
                  <a:lnTo>
                    <a:pt x="69797" y="4944019"/>
                  </a:lnTo>
                  <a:lnTo>
                    <a:pt x="33472" y="4919527"/>
                  </a:lnTo>
                  <a:lnTo>
                    <a:pt x="8980" y="4883202"/>
                  </a:lnTo>
                  <a:lnTo>
                    <a:pt x="0" y="4838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33351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8907" y="1474672"/>
            <a:ext cx="17506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175" y="1980438"/>
            <a:ext cx="233235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Design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system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64"/>
              </a:lnSpc>
            </a:pP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symptom-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based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75" y="2551938"/>
            <a:ext cx="238633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Support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multilingual communication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using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translation models.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175" y="3332988"/>
            <a:ext cx="217424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Develop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AI-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based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assistant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analysis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and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communication</a:t>
            </a:r>
            <a:r>
              <a:rPr sz="14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support.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175" y="4171188"/>
            <a:ext cx="239458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reduce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dependency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on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manual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interpretation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primary healthcare.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33737" y="1328737"/>
            <a:ext cx="2676525" cy="4962525"/>
            <a:chOff x="3233737" y="1328737"/>
            <a:chExt cx="2676525" cy="4962525"/>
          </a:xfrm>
        </p:grpSpPr>
        <p:sp>
          <p:nvSpPr>
            <p:cNvPr id="14" name="object 14"/>
            <p:cNvSpPr/>
            <p:nvPr/>
          </p:nvSpPr>
          <p:spPr>
            <a:xfrm>
              <a:off x="3238500" y="1333500"/>
              <a:ext cx="2667000" cy="4953000"/>
            </a:xfrm>
            <a:custGeom>
              <a:avLst/>
              <a:gdLst/>
              <a:ahLst/>
              <a:cxnLst/>
              <a:rect l="l" t="t" r="r" b="b"/>
              <a:pathLst>
                <a:path w="2667000" h="4953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38719"/>
                  </a:lnTo>
                  <a:lnTo>
                    <a:pt x="2658019" y="4883202"/>
                  </a:lnTo>
                  <a:lnTo>
                    <a:pt x="2633527" y="4919527"/>
                  </a:lnTo>
                  <a:lnTo>
                    <a:pt x="2597202" y="4944019"/>
                  </a:lnTo>
                  <a:lnTo>
                    <a:pt x="2552719" y="4952999"/>
                  </a:lnTo>
                  <a:lnTo>
                    <a:pt x="114280" y="4952999"/>
                  </a:lnTo>
                  <a:lnTo>
                    <a:pt x="69797" y="4944019"/>
                  </a:lnTo>
                  <a:lnTo>
                    <a:pt x="33472" y="4919527"/>
                  </a:lnTo>
                  <a:lnTo>
                    <a:pt x="8980" y="4883202"/>
                  </a:lnTo>
                  <a:lnTo>
                    <a:pt x="0" y="4838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38500" y="133351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72997" y="1474672"/>
            <a:ext cx="17970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8675" y="1980438"/>
            <a:ext cx="198183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Enable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voice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text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input processing.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8675" y="2551938"/>
            <a:ext cx="240093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Integrate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speech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recognition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voice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response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ease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use.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68675" y="3123438"/>
            <a:ext cx="238633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Generate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 automated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patient reports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risk-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level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indication.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8675" y="3752088"/>
            <a:ext cx="187578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process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symptoms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identify possible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health conditions.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68675" y="4590288"/>
            <a:ext cx="221932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generate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structured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patient reports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insights.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91237" y="1328737"/>
            <a:ext cx="2676525" cy="4962525"/>
            <a:chOff x="6091237" y="1328737"/>
            <a:chExt cx="2676525" cy="4962525"/>
          </a:xfrm>
        </p:grpSpPr>
        <p:sp>
          <p:nvSpPr>
            <p:cNvPr id="23" name="object 23"/>
            <p:cNvSpPr/>
            <p:nvPr/>
          </p:nvSpPr>
          <p:spPr>
            <a:xfrm>
              <a:off x="6096000" y="1333500"/>
              <a:ext cx="2667000" cy="4953000"/>
            </a:xfrm>
            <a:custGeom>
              <a:avLst/>
              <a:gdLst/>
              <a:ahLst/>
              <a:cxnLst/>
              <a:rect l="l" t="t" r="r" b="b"/>
              <a:pathLst>
                <a:path w="2667000" h="4953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38719"/>
                  </a:lnTo>
                  <a:lnTo>
                    <a:pt x="2658019" y="4883202"/>
                  </a:lnTo>
                  <a:lnTo>
                    <a:pt x="2633527" y="4919527"/>
                  </a:lnTo>
                  <a:lnTo>
                    <a:pt x="2597202" y="4944019"/>
                  </a:lnTo>
                  <a:lnTo>
                    <a:pt x="2552718" y="4952999"/>
                  </a:lnTo>
                  <a:lnTo>
                    <a:pt x="114280" y="4952999"/>
                  </a:lnTo>
                  <a:lnTo>
                    <a:pt x="69797" y="4944019"/>
                  </a:lnTo>
                  <a:lnTo>
                    <a:pt x="33472" y="4919527"/>
                  </a:lnTo>
                  <a:lnTo>
                    <a:pt x="8980" y="4883202"/>
                  </a:lnTo>
                  <a:lnTo>
                    <a:pt x="0" y="4838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133351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08465" y="1474672"/>
            <a:ext cx="1641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Outcomes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26175" y="1980438"/>
            <a:ext cx="2015489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Assess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system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accuracy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usability.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26175" y="2551938"/>
            <a:ext cx="18738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Improve accessibility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in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environments.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26175" y="3123438"/>
            <a:ext cx="23190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Assist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providers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with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basic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patient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processing.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26175" y="3752088"/>
            <a:ext cx="23418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evaluate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experience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ease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use.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26175" y="4380738"/>
            <a:ext cx="21170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ensure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time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response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reliability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outputs.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335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Literature</a:t>
            </a:r>
            <a:r>
              <a:rPr spc="-140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6237" y="142875"/>
            <a:ext cx="8387080" cy="5767705"/>
            <a:chOff x="376237" y="142875"/>
            <a:chExt cx="8387080" cy="57677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500" y="142875"/>
              <a:ext cx="1333499" cy="6668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0" y="1333500"/>
              <a:ext cx="2667000" cy="4572000"/>
            </a:xfrm>
            <a:custGeom>
              <a:avLst/>
              <a:gdLst/>
              <a:ahLst/>
              <a:cxnLst/>
              <a:rect l="l" t="t" r="r" b="b"/>
              <a:pathLst>
                <a:path w="2667000" h="4572000">
                  <a:moveTo>
                    <a:pt x="2552719" y="4571999"/>
                  </a:moveTo>
                  <a:lnTo>
                    <a:pt x="114280" y="4571999"/>
                  </a:lnTo>
                  <a:lnTo>
                    <a:pt x="69797" y="4563019"/>
                  </a:lnTo>
                  <a:lnTo>
                    <a:pt x="33472" y="4538527"/>
                  </a:lnTo>
                  <a:lnTo>
                    <a:pt x="8980" y="4502202"/>
                  </a:lnTo>
                  <a:lnTo>
                    <a:pt x="0" y="4457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457719"/>
                  </a:lnTo>
                  <a:lnTo>
                    <a:pt x="2658019" y="4502202"/>
                  </a:lnTo>
                  <a:lnTo>
                    <a:pt x="2633527" y="4538527"/>
                  </a:lnTo>
                  <a:lnTo>
                    <a:pt x="2597202" y="4563019"/>
                  </a:lnTo>
                  <a:lnTo>
                    <a:pt x="2552719" y="457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1333500"/>
              <a:ext cx="2667000" cy="4572000"/>
            </a:xfrm>
            <a:custGeom>
              <a:avLst/>
              <a:gdLst/>
              <a:ahLst/>
              <a:cxnLst/>
              <a:rect l="l" t="t" r="r" b="b"/>
              <a:pathLst>
                <a:path w="2667000" h="4572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457719"/>
                  </a:lnTo>
                  <a:lnTo>
                    <a:pt x="2658019" y="4502202"/>
                  </a:lnTo>
                  <a:lnTo>
                    <a:pt x="2633527" y="4538527"/>
                  </a:lnTo>
                  <a:lnTo>
                    <a:pt x="2597202" y="4563019"/>
                  </a:lnTo>
                  <a:lnTo>
                    <a:pt x="2552719" y="4571999"/>
                  </a:lnTo>
                  <a:lnTo>
                    <a:pt x="114280" y="4571999"/>
                  </a:lnTo>
                  <a:lnTo>
                    <a:pt x="69797" y="4563019"/>
                  </a:lnTo>
                  <a:lnTo>
                    <a:pt x="33472" y="4538527"/>
                  </a:lnTo>
                  <a:lnTo>
                    <a:pt x="8980" y="4502202"/>
                  </a:lnTo>
                  <a:lnTo>
                    <a:pt x="0" y="4457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133351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7686" y="1474672"/>
            <a:ext cx="14122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Previous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Studies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75" y="2028063"/>
            <a:ext cx="1471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E40AE"/>
                </a:solidFill>
                <a:latin typeface="Calibri"/>
                <a:cs typeface="Calibri"/>
              </a:rPr>
              <a:t>Limited Capabilities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443" y="2390013"/>
            <a:ext cx="2240915" cy="2543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Earlier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systems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were</a:t>
            </a:r>
            <a:r>
              <a:rPr sz="14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Mainly</a:t>
            </a:r>
            <a:endParaRPr sz="1400">
              <a:latin typeface="Calibri"/>
              <a:cs typeface="Calibri"/>
            </a:endParaRPr>
          </a:p>
          <a:p>
            <a:pPr marL="348615" marR="210185">
              <a:lnSpc>
                <a:spcPts val="1650"/>
              </a:lnSpc>
            </a:pP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chatbot-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based</a:t>
            </a:r>
            <a:r>
              <a:rPr sz="1400" spc="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with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restricted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functionality.</a:t>
            </a:r>
            <a:endParaRPr sz="1400">
              <a:latin typeface="Calibri"/>
              <a:cs typeface="Calibri"/>
            </a:endParaRPr>
          </a:p>
          <a:p>
            <a:pPr marL="348615" marR="161925" indent="-336550">
              <a:lnSpc>
                <a:spcPts val="1650"/>
              </a:lnSpc>
              <a:spcBef>
                <a:spcPts val="825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Focused</a:t>
            </a:r>
            <a:r>
              <a:rPr sz="14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exclusively</a:t>
            </a:r>
            <a:r>
              <a:rPr sz="1400" spc="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on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text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input.without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voice interaction</a:t>
            </a:r>
            <a:endParaRPr sz="1400">
              <a:latin typeface="Calibri"/>
              <a:cs typeface="Calibri"/>
            </a:endParaRPr>
          </a:p>
          <a:p>
            <a:pPr marL="348615" marR="135255" indent="-336550">
              <a:lnSpc>
                <a:spcPts val="1650"/>
              </a:lnSpc>
              <a:spcBef>
                <a:spcPts val="825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Some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applications provided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 checking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but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lacked multilingual capabilities.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33737" y="1328737"/>
            <a:ext cx="2676525" cy="4581525"/>
            <a:chOff x="3233737" y="1328737"/>
            <a:chExt cx="2676525" cy="4581525"/>
          </a:xfrm>
        </p:grpSpPr>
        <p:sp>
          <p:nvSpPr>
            <p:cNvPr id="13" name="object 13"/>
            <p:cNvSpPr/>
            <p:nvPr/>
          </p:nvSpPr>
          <p:spPr>
            <a:xfrm>
              <a:off x="3238500" y="1333500"/>
              <a:ext cx="2667000" cy="4572000"/>
            </a:xfrm>
            <a:custGeom>
              <a:avLst/>
              <a:gdLst/>
              <a:ahLst/>
              <a:cxnLst/>
              <a:rect l="l" t="t" r="r" b="b"/>
              <a:pathLst>
                <a:path w="2667000" h="4572000">
                  <a:moveTo>
                    <a:pt x="2552719" y="4571999"/>
                  </a:moveTo>
                  <a:lnTo>
                    <a:pt x="114280" y="4571999"/>
                  </a:lnTo>
                  <a:lnTo>
                    <a:pt x="69797" y="4563019"/>
                  </a:lnTo>
                  <a:lnTo>
                    <a:pt x="33472" y="4538527"/>
                  </a:lnTo>
                  <a:lnTo>
                    <a:pt x="8980" y="4502202"/>
                  </a:lnTo>
                  <a:lnTo>
                    <a:pt x="0" y="4457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457719"/>
                  </a:lnTo>
                  <a:lnTo>
                    <a:pt x="2658019" y="4502202"/>
                  </a:lnTo>
                  <a:lnTo>
                    <a:pt x="2633527" y="4538527"/>
                  </a:lnTo>
                  <a:lnTo>
                    <a:pt x="2597202" y="4563019"/>
                  </a:lnTo>
                  <a:lnTo>
                    <a:pt x="2552719" y="457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38500" y="1333500"/>
              <a:ext cx="2667000" cy="4572000"/>
            </a:xfrm>
            <a:custGeom>
              <a:avLst/>
              <a:gdLst/>
              <a:ahLst/>
              <a:cxnLst/>
              <a:rect l="l" t="t" r="r" b="b"/>
              <a:pathLst>
                <a:path w="2667000" h="4572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457719"/>
                  </a:lnTo>
                  <a:lnTo>
                    <a:pt x="2658019" y="4502202"/>
                  </a:lnTo>
                  <a:lnTo>
                    <a:pt x="2633527" y="4538527"/>
                  </a:lnTo>
                  <a:lnTo>
                    <a:pt x="2597202" y="4563019"/>
                  </a:lnTo>
                  <a:lnTo>
                    <a:pt x="2552719" y="4571999"/>
                  </a:lnTo>
                  <a:lnTo>
                    <a:pt x="114280" y="4571999"/>
                  </a:lnTo>
                  <a:lnTo>
                    <a:pt x="69797" y="4563019"/>
                  </a:lnTo>
                  <a:lnTo>
                    <a:pt x="33472" y="4538527"/>
                  </a:lnTo>
                  <a:lnTo>
                    <a:pt x="8980" y="4502202"/>
                  </a:lnTo>
                  <a:lnTo>
                    <a:pt x="0" y="4457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38500" y="133351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64057" y="1474672"/>
            <a:ext cx="16135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Theories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8675" y="2028063"/>
            <a:ext cx="102996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Enabling </a:t>
            </a:r>
            <a:r>
              <a:rPr sz="1400" b="1" spc="-20" dirty="0">
                <a:solidFill>
                  <a:srgbClr val="065F46"/>
                </a:solidFill>
                <a:latin typeface="Calibri"/>
                <a:cs typeface="Calibri"/>
              </a:rPr>
              <a:t>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89943" y="2390013"/>
            <a:ext cx="2224405" cy="2543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186690" indent="-336550">
              <a:lnSpc>
                <a:spcPts val="1650"/>
              </a:lnSpc>
              <a:spcBef>
                <a:spcPts val="18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NLP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techniques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such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as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BERT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Transformer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models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improved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text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understanding.</a:t>
            </a:r>
            <a:endParaRPr sz="1400">
              <a:latin typeface="Calibri"/>
              <a:cs typeface="Calibri"/>
            </a:endParaRPr>
          </a:p>
          <a:p>
            <a:pPr marL="348615" marR="5715" indent="-336550">
              <a:lnSpc>
                <a:spcPts val="1650"/>
              </a:lnSpc>
              <a:spcBef>
                <a:spcPts val="825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ASR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technologies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enabled accurate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conversion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of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speech</a:t>
            </a:r>
            <a:r>
              <a:rPr sz="1400" spc="-7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into</a:t>
            </a:r>
            <a:r>
              <a:rPr sz="14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text.</a:t>
            </a:r>
            <a:endParaRPr sz="1400">
              <a:latin typeface="Calibri"/>
              <a:cs typeface="Calibri"/>
            </a:endParaRPr>
          </a:p>
          <a:p>
            <a:pPr marL="348615" marR="5080" indent="-336550">
              <a:lnSpc>
                <a:spcPts val="1650"/>
              </a:lnSpc>
              <a:spcBef>
                <a:spcPts val="825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Neural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Machine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Translation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(NMT)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models improved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language translation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efficiency.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91237" y="1328737"/>
            <a:ext cx="2676525" cy="4581525"/>
            <a:chOff x="6091237" y="1328737"/>
            <a:chExt cx="2676525" cy="4581525"/>
          </a:xfrm>
        </p:grpSpPr>
        <p:sp>
          <p:nvSpPr>
            <p:cNvPr id="20" name="object 20"/>
            <p:cNvSpPr/>
            <p:nvPr/>
          </p:nvSpPr>
          <p:spPr>
            <a:xfrm>
              <a:off x="6096000" y="1333500"/>
              <a:ext cx="2667000" cy="4572000"/>
            </a:xfrm>
            <a:custGeom>
              <a:avLst/>
              <a:gdLst/>
              <a:ahLst/>
              <a:cxnLst/>
              <a:rect l="l" t="t" r="r" b="b"/>
              <a:pathLst>
                <a:path w="2667000" h="4572000">
                  <a:moveTo>
                    <a:pt x="2552718" y="4571999"/>
                  </a:moveTo>
                  <a:lnTo>
                    <a:pt x="114280" y="4571999"/>
                  </a:lnTo>
                  <a:lnTo>
                    <a:pt x="69797" y="4563019"/>
                  </a:lnTo>
                  <a:lnTo>
                    <a:pt x="33472" y="4538527"/>
                  </a:lnTo>
                  <a:lnTo>
                    <a:pt x="8980" y="4502202"/>
                  </a:lnTo>
                  <a:lnTo>
                    <a:pt x="0" y="4457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457719"/>
                  </a:lnTo>
                  <a:lnTo>
                    <a:pt x="2658019" y="4502202"/>
                  </a:lnTo>
                  <a:lnTo>
                    <a:pt x="2633527" y="4538527"/>
                  </a:lnTo>
                  <a:lnTo>
                    <a:pt x="2597202" y="4563019"/>
                  </a:lnTo>
                  <a:lnTo>
                    <a:pt x="2552718" y="457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0" y="1333500"/>
              <a:ext cx="2667000" cy="4572000"/>
            </a:xfrm>
            <a:custGeom>
              <a:avLst/>
              <a:gdLst/>
              <a:ahLst/>
              <a:cxnLst/>
              <a:rect l="l" t="t" r="r" b="b"/>
              <a:pathLst>
                <a:path w="2667000" h="4572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457719"/>
                  </a:lnTo>
                  <a:lnTo>
                    <a:pt x="2658019" y="4502202"/>
                  </a:lnTo>
                  <a:lnTo>
                    <a:pt x="2633527" y="4538527"/>
                  </a:lnTo>
                  <a:lnTo>
                    <a:pt x="2597202" y="4563019"/>
                  </a:lnTo>
                  <a:lnTo>
                    <a:pt x="2552718" y="4571999"/>
                  </a:lnTo>
                  <a:lnTo>
                    <a:pt x="114280" y="4571999"/>
                  </a:lnTo>
                  <a:lnTo>
                    <a:pt x="69797" y="4563019"/>
                  </a:lnTo>
                  <a:lnTo>
                    <a:pt x="33472" y="4538527"/>
                  </a:lnTo>
                  <a:lnTo>
                    <a:pt x="8980" y="4502202"/>
                  </a:lnTo>
                  <a:lnTo>
                    <a:pt x="0" y="4457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6000" y="133351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804125" y="1474672"/>
            <a:ext cx="12503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Gaps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26175" y="2028063"/>
            <a:ext cx="1239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92400D"/>
                </a:solidFill>
                <a:latin typeface="Calibri"/>
                <a:cs typeface="Calibri"/>
              </a:rPr>
              <a:t>I</a:t>
            </a:r>
            <a:r>
              <a:rPr sz="1400" b="1" spc="-10" dirty="0">
                <a:solidFill>
                  <a:srgbClr val="92400D"/>
                </a:solidFill>
                <a:latin typeface="Calibri"/>
                <a:cs typeface="Calibri"/>
              </a:rPr>
              <a:t>dentified</a:t>
            </a:r>
            <a:r>
              <a:rPr sz="1400" b="1" spc="5" dirty="0">
                <a:solidFill>
                  <a:srgbClr val="92400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92400D"/>
                </a:solidFill>
                <a:latin typeface="Calibri"/>
                <a:cs typeface="Calibri"/>
              </a:rPr>
              <a:t>Needs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47443" y="2390013"/>
            <a:ext cx="2109470" cy="17056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Lack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integrated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voice, translation,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reports.</a:t>
            </a:r>
            <a:endParaRPr sz="1400">
              <a:latin typeface="Calibri"/>
              <a:cs typeface="Calibri"/>
            </a:endParaRPr>
          </a:p>
          <a:p>
            <a:pPr marL="348615" marR="321945" indent="-336550">
              <a:lnSpc>
                <a:spcPts val="1650"/>
              </a:lnSpc>
              <a:spcBef>
                <a:spcPts val="825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Missing</a:t>
            </a:r>
            <a:r>
              <a:rPr sz="1400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real-time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processing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user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interfaces.</a:t>
            </a:r>
            <a:endParaRPr sz="1400">
              <a:latin typeface="Calibri"/>
              <a:cs typeface="Calibri"/>
            </a:endParaRPr>
          </a:p>
          <a:p>
            <a:pPr marL="348615" marR="246379" indent="-336550">
              <a:lnSpc>
                <a:spcPts val="1650"/>
              </a:lnSpc>
              <a:spcBef>
                <a:spcPts val="825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Need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low-cost,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accessible assistants.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43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0" y="142875"/>
            <a:ext cx="1333499" cy="6668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28612" y="1328737"/>
            <a:ext cx="2009775" cy="4581525"/>
            <a:chOff x="328612" y="1328737"/>
            <a:chExt cx="2009775" cy="4581525"/>
          </a:xfrm>
        </p:grpSpPr>
        <p:sp>
          <p:nvSpPr>
            <p:cNvPr id="6" name="object 6"/>
            <p:cNvSpPr/>
            <p:nvPr/>
          </p:nvSpPr>
          <p:spPr>
            <a:xfrm>
              <a:off x="333375" y="1333500"/>
              <a:ext cx="2000250" cy="4572000"/>
            </a:xfrm>
            <a:custGeom>
              <a:avLst/>
              <a:gdLst/>
              <a:ahLst/>
              <a:cxnLst/>
              <a:rect l="l" t="t" r="r" b="b"/>
              <a:pathLst>
                <a:path w="2000250" h="4572000">
                  <a:moveTo>
                    <a:pt x="0" y="114285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1885814" y="0"/>
                  </a:lnTo>
                  <a:lnTo>
                    <a:pt x="1929549" y="8699"/>
                  </a:lnTo>
                  <a:lnTo>
                    <a:pt x="1966626" y="33473"/>
                  </a:lnTo>
                  <a:lnTo>
                    <a:pt x="1991400" y="70550"/>
                  </a:lnTo>
                  <a:lnTo>
                    <a:pt x="2000099" y="114285"/>
                  </a:lnTo>
                  <a:lnTo>
                    <a:pt x="2000099" y="4457714"/>
                  </a:lnTo>
                  <a:lnTo>
                    <a:pt x="1991118" y="4502199"/>
                  </a:lnTo>
                  <a:lnTo>
                    <a:pt x="1966626" y="4538526"/>
                  </a:lnTo>
                  <a:lnTo>
                    <a:pt x="1930299" y="4563018"/>
                  </a:lnTo>
                  <a:lnTo>
                    <a:pt x="1885814" y="4571999"/>
                  </a:lnTo>
                  <a:lnTo>
                    <a:pt x="114285" y="4571999"/>
                  </a:lnTo>
                  <a:lnTo>
                    <a:pt x="69800" y="4563018"/>
                  </a:lnTo>
                  <a:lnTo>
                    <a:pt x="33473" y="4538526"/>
                  </a:lnTo>
                  <a:lnTo>
                    <a:pt x="8981" y="4502199"/>
                  </a:lnTo>
                  <a:lnTo>
                    <a:pt x="0" y="4457714"/>
                  </a:lnTo>
                  <a:lnTo>
                    <a:pt x="0" y="11428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3375" y="1333512"/>
              <a:ext cx="2000250" cy="572135"/>
            </a:xfrm>
            <a:custGeom>
              <a:avLst/>
              <a:gdLst/>
              <a:ahLst/>
              <a:cxnLst/>
              <a:rect l="l" t="t" r="r" b="b"/>
              <a:pathLst>
                <a:path w="2000250" h="572135">
                  <a:moveTo>
                    <a:pt x="2000097" y="114300"/>
                  </a:moveTo>
                  <a:lnTo>
                    <a:pt x="1991398" y="70548"/>
                  </a:lnTo>
                  <a:lnTo>
                    <a:pt x="1966620" y="33477"/>
                  </a:lnTo>
                  <a:lnTo>
                    <a:pt x="1929536" y="8699"/>
                  </a:lnTo>
                  <a:lnTo>
                    <a:pt x="1885797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000097" y="571639"/>
                  </a:lnTo>
                  <a:lnTo>
                    <a:pt x="2000097" y="457200"/>
                  </a:lnTo>
                  <a:lnTo>
                    <a:pt x="2000097" y="285750"/>
                  </a:lnTo>
                  <a:lnTo>
                    <a:pt x="2000097" y="11430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0162" y="1494738"/>
            <a:ext cx="1226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925" y="1879473"/>
            <a:ext cx="1682114" cy="10731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94"/>
              </a:spcBef>
            </a:pPr>
            <a:r>
              <a:rPr sz="1400" b="1" spc="-10" dirty="0">
                <a:solidFill>
                  <a:srgbClr val="1E40AE"/>
                </a:solidFill>
                <a:latin typeface="Calibri"/>
                <a:cs typeface="Calibri"/>
              </a:rPr>
              <a:t>Modular</a:t>
            </a:r>
            <a:r>
              <a:rPr sz="1400" b="1" spc="-20" dirty="0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E40AE"/>
                </a:solidFill>
                <a:latin typeface="Calibri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  <a:p>
            <a:pPr marL="12700" marR="5080" algn="just">
              <a:lnSpc>
                <a:spcPts val="1650"/>
              </a:lnSpc>
              <a:spcBef>
                <a:spcPts val="875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system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uses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input, processing,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output modules.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925" y="2974848"/>
            <a:ext cx="1781810" cy="10731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b="1" spc="-10" dirty="0">
                <a:solidFill>
                  <a:srgbClr val="1E40AE"/>
                </a:solidFill>
                <a:latin typeface="Calibri"/>
                <a:cs typeface="Calibri"/>
              </a:rPr>
              <a:t>Efficiency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875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Each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module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performs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a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specific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task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ensure efficiency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scalability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71737" y="1328737"/>
            <a:ext cx="2009775" cy="4581525"/>
            <a:chOff x="2471737" y="1328737"/>
            <a:chExt cx="2009775" cy="4581525"/>
          </a:xfrm>
        </p:grpSpPr>
        <p:sp>
          <p:nvSpPr>
            <p:cNvPr id="12" name="object 12"/>
            <p:cNvSpPr/>
            <p:nvPr/>
          </p:nvSpPr>
          <p:spPr>
            <a:xfrm>
              <a:off x="2476500" y="1333500"/>
              <a:ext cx="2000250" cy="4572000"/>
            </a:xfrm>
            <a:custGeom>
              <a:avLst/>
              <a:gdLst/>
              <a:ahLst/>
              <a:cxnLst/>
              <a:rect l="l" t="t" r="r" b="b"/>
              <a:pathLst>
                <a:path w="2000250" h="4572000">
                  <a:moveTo>
                    <a:pt x="0" y="114285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1885814" y="0"/>
                  </a:lnTo>
                  <a:lnTo>
                    <a:pt x="1929549" y="8699"/>
                  </a:lnTo>
                  <a:lnTo>
                    <a:pt x="1966626" y="33473"/>
                  </a:lnTo>
                  <a:lnTo>
                    <a:pt x="1991400" y="70550"/>
                  </a:lnTo>
                  <a:lnTo>
                    <a:pt x="2000099" y="114285"/>
                  </a:lnTo>
                  <a:lnTo>
                    <a:pt x="2000099" y="4457714"/>
                  </a:lnTo>
                  <a:lnTo>
                    <a:pt x="1991118" y="4502199"/>
                  </a:lnTo>
                  <a:lnTo>
                    <a:pt x="1966626" y="4538526"/>
                  </a:lnTo>
                  <a:lnTo>
                    <a:pt x="1930299" y="4563018"/>
                  </a:lnTo>
                  <a:lnTo>
                    <a:pt x="1885814" y="4571999"/>
                  </a:lnTo>
                  <a:lnTo>
                    <a:pt x="114285" y="4571999"/>
                  </a:lnTo>
                  <a:lnTo>
                    <a:pt x="69800" y="4563018"/>
                  </a:lnTo>
                  <a:lnTo>
                    <a:pt x="33473" y="4538526"/>
                  </a:lnTo>
                  <a:lnTo>
                    <a:pt x="8981" y="4502199"/>
                  </a:lnTo>
                  <a:lnTo>
                    <a:pt x="0" y="4457714"/>
                  </a:lnTo>
                  <a:lnTo>
                    <a:pt x="0" y="11428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76500" y="1333512"/>
              <a:ext cx="2000250" cy="572135"/>
            </a:xfrm>
            <a:custGeom>
              <a:avLst/>
              <a:gdLst/>
              <a:ahLst/>
              <a:cxnLst/>
              <a:rect l="l" t="t" r="r" b="b"/>
              <a:pathLst>
                <a:path w="2000250" h="572135">
                  <a:moveTo>
                    <a:pt x="2000097" y="114300"/>
                  </a:moveTo>
                  <a:lnTo>
                    <a:pt x="1991398" y="70548"/>
                  </a:lnTo>
                  <a:lnTo>
                    <a:pt x="1966620" y="33477"/>
                  </a:lnTo>
                  <a:lnTo>
                    <a:pt x="1929536" y="8699"/>
                  </a:lnTo>
                  <a:lnTo>
                    <a:pt x="1885797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000097" y="571639"/>
                  </a:lnTo>
                  <a:lnTo>
                    <a:pt x="2000097" y="457200"/>
                  </a:lnTo>
                  <a:lnTo>
                    <a:pt x="2000097" y="285750"/>
                  </a:lnTo>
                  <a:lnTo>
                    <a:pt x="2000097" y="114300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02505" y="1494738"/>
            <a:ext cx="1147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59050" y="1879473"/>
            <a:ext cx="1680210" cy="12827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b="1" dirty="0">
                <a:solidFill>
                  <a:srgbClr val="065F46"/>
                </a:solidFill>
                <a:latin typeface="Calibri"/>
                <a:cs typeface="Calibri"/>
              </a:rPr>
              <a:t>User</a:t>
            </a:r>
            <a:r>
              <a:rPr sz="1400" b="1" spc="-50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Details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875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provides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personal details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such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as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name,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age,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gender,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emergency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contact.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9050" y="3451097"/>
            <a:ext cx="1558290" cy="8636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b="1" dirty="0">
                <a:solidFill>
                  <a:srgbClr val="065F46"/>
                </a:solidFill>
                <a:latin typeface="Calibri"/>
                <a:cs typeface="Calibri"/>
              </a:rPr>
              <a:t>Health</a:t>
            </a:r>
            <a:r>
              <a:rPr sz="1400" b="1" spc="-70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Parameters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875"/>
              </a:spcBef>
            </a:pP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Temperature,</a:t>
            </a:r>
            <a:r>
              <a:rPr sz="14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65" dirty="0">
                <a:solidFill>
                  <a:srgbClr val="334155"/>
                </a:solidFill>
                <a:latin typeface="Calibri"/>
                <a:cs typeface="Calibri"/>
              </a:rPr>
              <a:t>BP,</a:t>
            </a:r>
            <a:r>
              <a:rPr sz="14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pulse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rate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collection.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4862" y="1328737"/>
            <a:ext cx="2009775" cy="4581525"/>
            <a:chOff x="4614862" y="1328737"/>
            <a:chExt cx="2009775" cy="4581525"/>
          </a:xfrm>
        </p:grpSpPr>
        <p:sp>
          <p:nvSpPr>
            <p:cNvPr id="18" name="object 18"/>
            <p:cNvSpPr/>
            <p:nvPr/>
          </p:nvSpPr>
          <p:spPr>
            <a:xfrm>
              <a:off x="4619625" y="1333500"/>
              <a:ext cx="2000250" cy="4572000"/>
            </a:xfrm>
            <a:custGeom>
              <a:avLst/>
              <a:gdLst/>
              <a:ahLst/>
              <a:cxnLst/>
              <a:rect l="l" t="t" r="r" b="b"/>
              <a:pathLst>
                <a:path w="2000250" h="4572000">
                  <a:moveTo>
                    <a:pt x="0" y="114285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1885814" y="0"/>
                  </a:lnTo>
                  <a:lnTo>
                    <a:pt x="1929549" y="8699"/>
                  </a:lnTo>
                  <a:lnTo>
                    <a:pt x="1966626" y="33473"/>
                  </a:lnTo>
                  <a:lnTo>
                    <a:pt x="1991400" y="70550"/>
                  </a:lnTo>
                  <a:lnTo>
                    <a:pt x="2000099" y="114285"/>
                  </a:lnTo>
                  <a:lnTo>
                    <a:pt x="2000099" y="4457714"/>
                  </a:lnTo>
                  <a:lnTo>
                    <a:pt x="1991118" y="4502199"/>
                  </a:lnTo>
                  <a:lnTo>
                    <a:pt x="1966626" y="4538526"/>
                  </a:lnTo>
                  <a:lnTo>
                    <a:pt x="1930299" y="4563018"/>
                  </a:lnTo>
                  <a:lnTo>
                    <a:pt x="1885814" y="4571999"/>
                  </a:lnTo>
                  <a:lnTo>
                    <a:pt x="114285" y="4571999"/>
                  </a:lnTo>
                  <a:lnTo>
                    <a:pt x="69800" y="4563018"/>
                  </a:lnTo>
                  <a:lnTo>
                    <a:pt x="33473" y="4538526"/>
                  </a:lnTo>
                  <a:lnTo>
                    <a:pt x="8981" y="4502199"/>
                  </a:lnTo>
                  <a:lnTo>
                    <a:pt x="0" y="4457714"/>
                  </a:lnTo>
                  <a:lnTo>
                    <a:pt x="0" y="11428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9625" y="1333512"/>
              <a:ext cx="2000250" cy="572135"/>
            </a:xfrm>
            <a:custGeom>
              <a:avLst/>
              <a:gdLst/>
              <a:ahLst/>
              <a:cxnLst/>
              <a:rect l="l" t="t" r="r" b="b"/>
              <a:pathLst>
                <a:path w="2000250" h="572135">
                  <a:moveTo>
                    <a:pt x="2000097" y="114300"/>
                  </a:moveTo>
                  <a:lnTo>
                    <a:pt x="1991398" y="70548"/>
                  </a:lnTo>
                  <a:lnTo>
                    <a:pt x="1966620" y="33477"/>
                  </a:lnTo>
                  <a:lnTo>
                    <a:pt x="1929536" y="8699"/>
                  </a:lnTo>
                  <a:lnTo>
                    <a:pt x="1885797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000097" y="571639"/>
                  </a:lnTo>
                  <a:lnTo>
                    <a:pt x="2000097" y="457200"/>
                  </a:lnTo>
                  <a:lnTo>
                    <a:pt x="2000097" y="285750"/>
                  </a:lnTo>
                  <a:lnTo>
                    <a:pt x="2000097" y="114300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97778" y="1494738"/>
            <a:ext cx="12439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02175" y="1879473"/>
            <a:ext cx="1658620" cy="21209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b="1" dirty="0">
                <a:solidFill>
                  <a:srgbClr val="92400D"/>
                </a:solidFill>
                <a:latin typeface="Calibri"/>
                <a:cs typeface="Calibri"/>
              </a:rPr>
              <a:t>Stage</a:t>
            </a:r>
            <a:r>
              <a:rPr sz="1400" b="1" spc="-60" dirty="0">
                <a:solidFill>
                  <a:srgbClr val="92400D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92400D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875"/>
              </a:spcBef>
            </a:pP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Voice/Text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Input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4155"/>
                </a:solidFill>
                <a:latin typeface="Microsoft Sans Serif"/>
                <a:cs typeface="Microsoft Sans Serif"/>
              </a:rPr>
              <a:t>→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Speech</a:t>
            </a:r>
            <a:r>
              <a:rPr sz="14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Recognition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4155"/>
                </a:solidFill>
                <a:latin typeface="Microsoft Sans Serif"/>
                <a:cs typeface="Microsoft Sans Serif"/>
              </a:rPr>
              <a:t>→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NLP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Processing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45"/>
              </a:spcBef>
            </a:pPr>
            <a:r>
              <a:rPr sz="1400" b="1" dirty="0">
                <a:solidFill>
                  <a:srgbClr val="92400D"/>
                </a:solidFill>
                <a:latin typeface="Calibri"/>
                <a:cs typeface="Calibri"/>
              </a:rPr>
              <a:t>Stage</a:t>
            </a:r>
            <a:r>
              <a:rPr sz="1400" b="1" spc="-60" dirty="0">
                <a:solidFill>
                  <a:srgbClr val="92400D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92400D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 marR="282575" algn="just">
              <a:lnSpc>
                <a:spcPts val="1650"/>
              </a:lnSpc>
              <a:spcBef>
                <a:spcPts val="875"/>
              </a:spcBef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Symptoms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Microsoft Sans Serif"/>
                <a:cs typeface="Microsoft Sans Serif"/>
              </a:rPr>
              <a:t>→</a:t>
            </a:r>
            <a:r>
              <a:rPr sz="1400" spc="-5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Risk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Analysis </a:t>
            </a:r>
            <a:r>
              <a:rPr sz="1400" dirty="0">
                <a:solidFill>
                  <a:srgbClr val="334155"/>
                </a:solidFill>
                <a:latin typeface="Microsoft Sans Serif"/>
                <a:cs typeface="Microsoft Sans Serif"/>
              </a:rPr>
              <a:t>→</a:t>
            </a:r>
            <a:r>
              <a:rPr sz="1400" spc="-6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Output generation.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57987" y="1328737"/>
            <a:ext cx="2009775" cy="4581525"/>
            <a:chOff x="6757987" y="1328737"/>
            <a:chExt cx="2009775" cy="4581525"/>
          </a:xfrm>
        </p:grpSpPr>
        <p:sp>
          <p:nvSpPr>
            <p:cNvPr id="23" name="object 23"/>
            <p:cNvSpPr/>
            <p:nvPr/>
          </p:nvSpPr>
          <p:spPr>
            <a:xfrm>
              <a:off x="6762750" y="1333500"/>
              <a:ext cx="2000250" cy="4572000"/>
            </a:xfrm>
            <a:custGeom>
              <a:avLst/>
              <a:gdLst/>
              <a:ahLst/>
              <a:cxnLst/>
              <a:rect l="l" t="t" r="r" b="b"/>
              <a:pathLst>
                <a:path w="2000250" h="4572000">
                  <a:moveTo>
                    <a:pt x="0" y="114285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1885813" y="0"/>
                  </a:lnTo>
                  <a:lnTo>
                    <a:pt x="1929549" y="8699"/>
                  </a:lnTo>
                  <a:lnTo>
                    <a:pt x="1966626" y="33473"/>
                  </a:lnTo>
                  <a:lnTo>
                    <a:pt x="1991400" y="70550"/>
                  </a:lnTo>
                  <a:lnTo>
                    <a:pt x="2000099" y="114285"/>
                  </a:lnTo>
                  <a:lnTo>
                    <a:pt x="2000099" y="4457714"/>
                  </a:lnTo>
                  <a:lnTo>
                    <a:pt x="1991118" y="4502199"/>
                  </a:lnTo>
                  <a:lnTo>
                    <a:pt x="1966626" y="4538526"/>
                  </a:lnTo>
                  <a:lnTo>
                    <a:pt x="1930299" y="4563018"/>
                  </a:lnTo>
                  <a:lnTo>
                    <a:pt x="1885813" y="4571999"/>
                  </a:lnTo>
                  <a:lnTo>
                    <a:pt x="114285" y="4571999"/>
                  </a:lnTo>
                  <a:lnTo>
                    <a:pt x="69800" y="4563018"/>
                  </a:lnTo>
                  <a:lnTo>
                    <a:pt x="33473" y="4538526"/>
                  </a:lnTo>
                  <a:lnTo>
                    <a:pt x="8981" y="4502199"/>
                  </a:lnTo>
                  <a:lnTo>
                    <a:pt x="0" y="4457714"/>
                  </a:lnTo>
                  <a:lnTo>
                    <a:pt x="0" y="11428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2750" y="1333512"/>
              <a:ext cx="2000250" cy="572135"/>
            </a:xfrm>
            <a:custGeom>
              <a:avLst/>
              <a:gdLst/>
              <a:ahLst/>
              <a:cxnLst/>
              <a:rect l="l" t="t" r="r" b="b"/>
              <a:pathLst>
                <a:path w="2000250" h="572135">
                  <a:moveTo>
                    <a:pt x="2000097" y="114300"/>
                  </a:moveTo>
                  <a:lnTo>
                    <a:pt x="1991398" y="70548"/>
                  </a:lnTo>
                  <a:lnTo>
                    <a:pt x="1966620" y="33477"/>
                  </a:lnTo>
                  <a:lnTo>
                    <a:pt x="1929536" y="8699"/>
                  </a:lnTo>
                  <a:lnTo>
                    <a:pt x="1885797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000097" y="571639"/>
                  </a:lnTo>
                  <a:lnTo>
                    <a:pt x="2000097" y="457200"/>
                  </a:lnTo>
                  <a:lnTo>
                    <a:pt x="2000097" y="285750"/>
                  </a:lnTo>
                  <a:lnTo>
                    <a:pt x="2000097" y="11430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92320" y="1494738"/>
            <a:ext cx="94106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5300" y="1927098"/>
            <a:ext cx="1381760" cy="558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-10" dirty="0">
                <a:solidFill>
                  <a:srgbClr val="4337CA"/>
                </a:solidFill>
                <a:latin typeface="Calibri"/>
                <a:cs typeface="Calibri"/>
              </a:rPr>
              <a:t>Langua</a:t>
            </a:r>
            <a:r>
              <a:rPr sz="1400" b="1" spc="-10" dirty="0">
                <a:solidFill>
                  <a:srgbClr val="4337CA"/>
                </a:solidFill>
                <a:latin typeface="Calibri"/>
                <a:cs typeface="Calibri"/>
              </a:rPr>
              <a:t>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Python,</a:t>
            </a:r>
            <a:r>
              <a:rPr sz="14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JavaScript.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45300" y="2536698"/>
            <a:ext cx="1695450" cy="9779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 b="1" spc="-20" dirty="0">
                <a:solidFill>
                  <a:srgbClr val="4337CA"/>
                </a:solidFill>
                <a:latin typeface="Calibri"/>
                <a:cs typeface="Calibri"/>
              </a:rPr>
              <a:t>APIs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500"/>
              </a:spcBef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Google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Speech-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to-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Text, Translation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APIs,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TTS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engines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45300" y="3565397"/>
            <a:ext cx="1719580" cy="7683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 b="1" dirty="0">
                <a:solidFill>
                  <a:srgbClr val="4337CA"/>
                </a:solidFill>
                <a:latin typeface="Calibri"/>
                <a:cs typeface="Calibri"/>
              </a:rPr>
              <a:t>AI</a:t>
            </a:r>
            <a:r>
              <a:rPr sz="1400" b="1" spc="-25" dirty="0">
                <a:solidFill>
                  <a:srgbClr val="4337C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4337CA"/>
                </a:solidFill>
                <a:latin typeface="Calibri"/>
                <a:cs typeface="Calibri"/>
              </a:rPr>
              <a:t>Approach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500"/>
              </a:spcBef>
            </a:pP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Rule-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based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+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intelligent matching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169036"/>
            <a:ext cx="1384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0" y="142875"/>
            <a:ext cx="1333499" cy="6668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80987" y="1138237"/>
            <a:ext cx="4200525" cy="2391410"/>
            <a:chOff x="280987" y="1138237"/>
            <a:chExt cx="4200525" cy="2391410"/>
          </a:xfrm>
        </p:grpSpPr>
        <p:sp>
          <p:nvSpPr>
            <p:cNvPr id="6" name="object 6"/>
            <p:cNvSpPr/>
            <p:nvPr/>
          </p:nvSpPr>
          <p:spPr>
            <a:xfrm>
              <a:off x="285750" y="1143000"/>
              <a:ext cx="4191000" cy="2381885"/>
            </a:xfrm>
            <a:custGeom>
              <a:avLst/>
              <a:gdLst/>
              <a:ahLst/>
              <a:cxnLst/>
              <a:rect l="l" t="t" r="r" b="b"/>
              <a:pathLst>
                <a:path w="4191000" h="2381885">
                  <a:moveTo>
                    <a:pt x="0" y="114307"/>
                  </a:moveTo>
                  <a:lnTo>
                    <a:pt x="8982" y="69813"/>
                  </a:lnTo>
                  <a:lnTo>
                    <a:pt x="33479" y="33479"/>
                  </a:lnTo>
                  <a:lnTo>
                    <a:pt x="69813" y="8982"/>
                  </a:lnTo>
                  <a:lnTo>
                    <a:pt x="114307" y="0"/>
                  </a:lnTo>
                  <a:lnTo>
                    <a:pt x="4076692" y="0"/>
                  </a:lnTo>
                  <a:lnTo>
                    <a:pt x="4120436" y="8701"/>
                  </a:lnTo>
                  <a:lnTo>
                    <a:pt x="4157520" y="33479"/>
                  </a:lnTo>
                  <a:lnTo>
                    <a:pt x="4182298" y="70563"/>
                  </a:lnTo>
                  <a:lnTo>
                    <a:pt x="4190999" y="114307"/>
                  </a:lnTo>
                  <a:lnTo>
                    <a:pt x="4190999" y="2267092"/>
                  </a:lnTo>
                  <a:lnTo>
                    <a:pt x="4182017" y="2311586"/>
                  </a:lnTo>
                  <a:lnTo>
                    <a:pt x="4157520" y="2347920"/>
                  </a:lnTo>
                  <a:lnTo>
                    <a:pt x="4121186" y="2372417"/>
                  </a:lnTo>
                  <a:lnTo>
                    <a:pt x="4076692" y="2381399"/>
                  </a:lnTo>
                  <a:lnTo>
                    <a:pt x="114307" y="2381399"/>
                  </a:lnTo>
                  <a:lnTo>
                    <a:pt x="69813" y="2372417"/>
                  </a:lnTo>
                  <a:lnTo>
                    <a:pt x="33479" y="2347920"/>
                  </a:lnTo>
                  <a:lnTo>
                    <a:pt x="8982" y="2311586"/>
                  </a:lnTo>
                  <a:lnTo>
                    <a:pt x="0" y="2267092"/>
                  </a:lnTo>
                  <a:lnTo>
                    <a:pt x="0" y="11430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5750" y="1143012"/>
              <a:ext cx="4191000" cy="429259"/>
            </a:xfrm>
            <a:custGeom>
              <a:avLst/>
              <a:gdLst/>
              <a:ahLst/>
              <a:cxnLst/>
              <a:rect l="l" t="t" r="r" b="b"/>
              <a:pathLst>
                <a:path w="4191000" h="429259">
                  <a:moveTo>
                    <a:pt x="4191000" y="114312"/>
                  </a:moveTo>
                  <a:lnTo>
                    <a:pt x="4182287" y="70561"/>
                  </a:lnTo>
                  <a:lnTo>
                    <a:pt x="4157510" y="33477"/>
                  </a:lnTo>
                  <a:lnTo>
                    <a:pt x="4120426" y="8699"/>
                  </a:lnTo>
                  <a:lnTo>
                    <a:pt x="4076674" y="0"/>
                  </a:lnTo>
                  <a:lnTo>
                    <a:pt x="114312" y="0"/>
                  </a:lnTo>
                  <a:lnTo>
                    <a:pt x="69811" y="8978"/>
                  </a:lnTo>
                  <a:lnTo>
                    <a:pt x="33477" y="33477"/>
                  </a:lnTo>
                  <a:lnTo>
                    <a:pt x="8978" y="69811"/>
                  </a:lnTo>
                  <a:lnTo>
                    <a:pt x="0" y="114312"/>
                  </a:lnTo>
                  <a:lnTo>
                    <a:pt x="0" y="238125"/>
                  </a:lnTo>
                  <a:lnTo>
                    <a:pt x="0" y="314375"/>
                  </a:lnTo>
                  <a:lnTo>
                    <a:pt x="0" y="428625"/>
                  </a:lnTo>
                  <a:lnTo>
                    <a:pt x="113995" y="428625"/>
                  </a:lnTo>
                  <a:lnTo>
                    <a:pt x="114312" y="428688"/>
                  </a:lnTo>
                  <a:lnTo>
                    <a:pt x="4076674" y="428688"/>
                  </a:lnTo>
                  <a:lnTo>
                    <a:pt x="4076979" y="428625"/>
                  </a:lnTo>
                  <a:lnTo>
                    <a:pt x="4191000" y="428625"/>
                  </a:lnTo>
                  <a:lnTo>
                    <a:pt x="4191000" y="314375"/>
                  </a:lnTo>
                  <a:lnTo>
                    <a:pt x="4191000" y="238125"/>
                  </a:lnTo>
                  <a:lnTo>
                    <a:pt x="4191000" y="11431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44852" y="1212696"/>
            <a:ext cx="10712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Findings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67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dirty="0"/>
              <a:t>High</a:t>
            </a:r>
            <a:r>
              <a:rPr spc="-50" dirty="0"/>
              <a:t> </a:t>
            </a:r>
            <a:r>
              <a:rPr spc="-10" dirty="0"/>
              <a:t>responsiveness</a:t>
            </a:r>
            <a:r>
              <a:rPr spc="-45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voice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text</a:t>
            </a:r>
            <a:r>
              <a:rPr spc="-45" dirty="0"/>
              <a:t> </a:t>
            </a:r>
            <a:r>
              <a:rPr spc="-10" dirty="0"/>
              <a:t>inputs.</a:t>
            </a:r>
          </a:p>
          <a:p>
            <a:pPr marL="348615" marR="102870" indent="-336550">
              <a:lnSpc>
                <a:spcPts val="1650"/>
              </a:lnSpc>
              <a:spcBef>
                <a:spcPts val="65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pc="-10" dirty="0"/>
              <a:t>Accurate</a:t>
            </a:r>
            <a:r>
              <a:rPr spc="-30" dirty="0"/>
              <a:t> </a:t>
            </a:r>
            <a:r>
              <a:rPr spc="-10" dirty="0"/>
              <a:t>identification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common</a:t>
            </a:r>
            <a:r>
              <a:rPr spc="-30" dirty="0"/>
              <a:t> </a:t>
            </a:r>
            <a:r>
              <a:rPr spc="-10" dirty="0"/>
              <a:t>symptoms </a:t>
            </a:r>
            <a:r>
              <a:rPr spc="-30" dirty="0"/>
              <a:t>(fever,</a:t>
            </a:r>
            <a:r>
              <a:rPr spc="-45" dirty="0"/>
              <a:t> </a:t>
            </a:r>
            <a:r>
              <a:rPr dirty="0"/>
              <a:t>cough,</a:t>
            </a:r>
            <a:r>
              <a:rPr spc="-40" dirty="0"/>
              <a:t> </a:t>
            </a:r>
            <a:r>
              <a:rPr spc="-10" dirty="0"/>
              <a:t>etc.).</a:t>
            </a:r>
          </a:p>
          <a:p>
            <a:pPr marL="348615" marR="593725" indent="-336550">
              <a:lnSpc>
                <a:spcPts val="1650"/>
              </a:lnSpc>
              <a:spcBef>
                <a:spcPts val="6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spc="-10" dirty="0"/>
              <a:t>Efficient</a:t>
            </a:r>
            <a:r>
              <a:rPr spc="-35" dirty="0"/>
              <a:t> </a:t>
            </a:r>
            <a:r>
              <a:rPr spc="-10" dirty="0"/>
              <a:t>multilingual</a:t>
            </a:r>
            <a:r>
              <a:rPr spc="-30" dirty="0"/>
              <a:t> </a:t>
            </a:r>
            <a:r>
              <a:rPr spc="-10" dirty="0"/>
              <a:t>translation</a:t>
            </a:r>
            <a:r>
              <a:rPr spc="-30" dirty="0"/>
              <a:t> </a:t>
            </a:r>
            <a:r>
              <a:rPr spc="-10" dirty="0"/>
              <a:t>across languages.</a:t>
            </a:r>
          </a:p>
          <a:p>
            <a:pPr marL="348615" marR="5080" indent="-313055">
              <a:lnSpc>
                <a:spcPts val="1650"/>
              </a:lnSpc>
              <a:spcBef>
                <a:spcPts val="600"/>
              </a:spcBef>
              <a:buSzPct val="78571"/>
              <a:buFont typeface="Microsoft Sans Serif"/>
              <a:buChar char="●"/>
              <a:tabLst>
                <a:tab pos="348615" algn="l"/>
              </a:tabLst>
            </a:pPr>
            <a:r>
              <a:rPr spc="-10" dirty="0"/>
              <a:t>Emergency</a:t>
            </a:r>
            <a:r>
              <a:rPr spc="-35" dirty="0"/>
              <a:t> </a:t>
            </a:r>
            <a:r>
              <a:rPr dirty="0"/>
              <a:t>alerts</a:t>
            </a:r>
            <a:r>
              <a:rPr spc="-35" dirty="0"/>
              <a:t> </a:t>
            </a:r>
            <a:r>
              <a:rPr spc="-10" dirty="0"/>
              <a:t>correctly</a:t>
            </a:r>
            <a:r>
              <a:rPr spc="-35" dirty="0"/>
              <a:t> </a:t>
            </a:r>
            <a:r>
              <a:rPr spc="-10" dirty="0"/>
              <a:t>triggered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10" dirty="0"/>
              <a:t>critical symptoms</a:t>
            </a:r>
            <a:r>
              <a:rPr sz="1100" spc="-10" dirty="0"/>
              <a:t>.</a:t>
            </a:r>
            <a:endParaRPr sz="1100"/>
          </a:p>
        </p:txBody>
      </p:sp>
      <p:grpSp>
        <p:nvGrpSpPr>
          <p:cNvPr id="10" name="object 10"/>
          <p:cNvGrpSpPr/>
          <p:nvPr/>
        </p:nvGrpSpPr>
        <p:grpSpPr>
          <a:xfrm>
            <a:off x="4662487" y="1138237"/>
            <a:ext cx="4200525" cy="2391410"/>
            <a:chOff x="4662487" y="1138237"/>
            <a:chExt cx="4200525" cy="2391410"/>
          </a:xfrm>
        </p:grpSpPr>
        <p:sp>
          <p:nvSpPr>
            <p:cNvPr id="11" name="object 11"/>
            <p:cNvSpPr/>
            <p:nvPr/>
          </p:nvSpPr>
          <p:spPr>
            <a:xfrm>
              <a:off x="4667250" y="1143000"/>
              <a:ext cx="4191000" cy="2381885"/>
            </a:xfrm>
            <a:custGeom>
              <a:avLst/>
              <a:gdLst/>
              <a:ahLst/>
              <a:cxnLst/>
              <a:rect l="l" t="t" r="r" b="b"/>
              <a:pathLst>
                <a:path w="4191000" h="2381885">
                  <a:moveTo>
                    <a:pt x="0" y="114307"/>
                  </a:moveTo>
                  <a:lnTo>
                    <a:pt x="8982" y="69813"/>
                  </a:lnTo>
                  <a:lnTo>
                    <a:pt x="33479" y="33479"/>
                  </a:lnTo>
                  <a:lnTo>
                    <a:pt x="69813" y="8982"/>
                  </a:lnTo>
                  <a:lnTo>
                    <a:pt x="114306" y="0"/>
                  </a:lnTo>
                  <a:lnTo>
                    <a:pt x="4076692" y="0"/>
                  </a:lnTo>
                  <a:lnTo>
                    <a:pt x="4120436" y="8701"/>
                  </a:lnTo>
                  <a:lnTo>
                    <a:pt x="4157519" y="33479"/>
                  </a:lnTo>
                  <a:lnTo>
                    <a:pt x="4182298" y="70563"/>
                  </a:lnTo>
                  <a:lnTo>
                    <a:pt x="4190999" y="114307"/>
                  </a:lnTo>
                  <a:lnTo>
                    <a:pt x="4190999" y="2267092"/>
                  </a:lnTo>
                  <a:lnTo>
                    <a:pt x="4182017" y="2311586"/>
                  </a:lnTo>
                  <a:lnTo>
                    <a:pt x="4157520" y="2347920"/>
                  </a:lnTo>
                  <a:lnTo>
                    <a:pt x="4121186" y="2372417"/>
                  </a:lnTo>
                  <a:lnTo>
                    <a:pt x="4076692" y="2381399"/>
                  </a:lnTo>
                  <a:lnTo>
                    <a:pt x="114306" y="2381399"/>
                  </a:lnTo>
                  <a:lnTo>
                    <a:pt x="69813" y="2372417"/>
                  </a:lnTo>
                  <a:lnTo>
                    <a:pt x="33479" y="2347920"/>
                  </a:lnTo>
                  <a:lnTo>
                    <a:pt x="8982" y="2311586"/>
                  </a:lnTo>
                  <a:lnTo>
                    <a:pt x="0" y="2267092"/>
                  </a:lnTo>
                  <a:lnTo>
                    <a:pt x="0" y="114307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67250" y="1143012"/>
              <a:ext cx="4191000" cy="429259"/>
            </a:xfrm>
            <a:custGeom>
              <a:avLst/>
              <a:gdLst/>
              <a:ahLst/>
              <a:cxnLst/>
              <a:rect l="l" t="t" r="r" b="b"/>
              <a:pathLst>
                <a:path w="4191000" h="429259">
                  <a:moveTo>
                    <a:pt x="4191000" y="114312"/>
                  </a:moveTo>
                  <a:lnTo>
                    <a:pt x="4182287" y="70561"/>
                  </a:lnTo>
                  <a:lnTo>
                    <a:pt x="4157510" y="33477"/>
                  </a:lnTo>
                  <a:lnTo>
                    <a:pt x="4120426" y="8699"/>
                  </a:lnTo>
                  <a:lnTo>
                    <a:pt x="4076674" y="0"/>
                  </a:lnTo>
                  <a:lnTo>
                    <a:pt x="114312" y="0"/>
                  </a:lnTo>
                  <a:lnTo>
                    <a:pt x="69811" y="8978"/>
                  </a:lnTo>
                  <a:lnTo>
                    <a:pt x="33477" y="33477"/>
                  </a:lnTo>
                  <a:lnTo>
                    <a:pt x="8978" y="69811"/>
                  </a:lnTo>
                  <a:lnTo>
                    <a:pt x="0" y="114312"/>
                  </a:lnTo>
                  <a:lnTo>
                    <a:pt x="0" y="238125"/>
                  </a:lnTo>
                  <a:lnTo>
                    <a:pt x="0" y="314375"/>
                  </a:lnTo>
                  <a:lnTo>
                    <a:pt x="0" y="428625"/>
                  </a:lnTo>
                  <a:lnTo>
                    <a:pt x="113995" y="428625"/>
                  </a:lnTo>
                  <a:lnTo>
                    <a:pt x="114312" y="428688"/>
                  </a:lnTo>
                  <a:lnTo>
                    <a:pt x="4076674" y="428688"/>
                  </a:lnTo>
                  <a:lnTo>
                    <a:pt x="4076979" y="428625"/>
                  </a:lnTo>
                  <a:lnTo>
                    <a:pt x="4191000" y="428625"/>
                  </a:lnTo>
                  <a:lnTo>
                    <a:pt x="4191000" y="314375"/>
                  </a:lnTo>
                  <a:lnTo>
                    <a:pt x="4191000" y="238125"/>
                  </a:lnTo>
                  <a:lnTo>
                    <a:pt x="4191000" y="114312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84889" y="1212696"/>
            <a:ext cx="11550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8693" y="1574673"/>
            <a:ext cx="3685540" cy="10922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670"/>
              </a:spcBef>
              <a:buClr>
                <a:srgbClr val="334155"/>
              </a:buClr>
              <a:buFont typeface="Microsoft Sans Serif"/>
              <a:buChar char="●"/>
              <a:tabLst>
                <a:tab pos="347980" algn="l"/>
              </a:tabLst>
            </a:pP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85–</a:t>
            </a:r>
            <a:r>
              <a:rPr sz="1400" b="1" dirty="0">
                <a:solidFill>
                  <a:srgbClr val="065F46"/>
                </a:solidFill>
                <a:latin typeface="Calibri"/>
                <a:cs typeface="Calibri"/>
              </a:rPr>
              <a:t>90%</a:t>
            </a:r>
            <a:r>
              <a:rPr sz="1400" b="1" spc="-25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accuracy</a:t>
            </a:r>
            <a:r>
              <a:rPr sz="1400" b="1" spc="-20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detection.</a:t>
            </a:r>
            <a:endParaRPr sz="1400">
              <a:latin typeface="Calibri"/>
              <a:cs typeface="Calibri"/>
            </a:endParaRPr>
          </a:p>
          <a:p>
            <a:pPr marL="347980" indent="-335280">
              <a:lnSpc>
                <a:spcPct val="100000"/>
              </a:lnSpc>
              <a:spcBef>
                <a:spcPts val="570"/>
              </a:spcBef>
              <a:buClr>
                <a:srgbClr val="334155"/>
              </a:buClr>
              <a:buFont typeface="Microsoft Sans Serif"/>
              <a:buChar char="●"/>
              <a:tabLst>
                <a:tab pos="347980" algn="l"/>
              </a:tabLst>
            </a:pP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80–</a:t>
            </a:r>
            <a:r>
              <a:rPr sz="1400" b="1" dirty="0">
                <a:solidFill>
                  <a:srgbClr val="065F46"/>
                </a:solidFill>
                <a:latin typeface="Calibri"/>
                <a:cs typeface="Calibri"/>
              </a:rPr>
              <a:t>85%</a:t>
            </a:r>
            <a:r>
              <a:rPr sz="1400" b="1" spc="-20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65F46"/>
                </a:solidFill>
                <a:latin typeface="Calibri"/>
                <a:cs typeface="Calibri"/>
              </a:rPr>
              <a:t>accuracy</a:t>
            </a:r>
            <a:r>
              <a:rPr sz="1400" b="1" spc="-15" dirty="0">
                <a:solidFill>
                  <a:srgbClr val="065F4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voice-to-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text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conversion.</a:t>
            </a:r>
            <a:endParaRPr sz="1400">
              <a:latin typeface="Calibri"/>
              <a:cs typeface="Calibri"/>
            </a:endParaRPr>
          </a:p>
          <a:p>
            <a:pPr marL="348615" marR="149860" indent="-313055">
              <a:lnSpc>
                <a:spcPts val="1650"/>
              </a:lnSpc>
              <a:spcBef>
                <a:spcPts val="650"/>
              </a:spcBef>
              <a:buSzPct val="78571"/>
              <a:buFont typeface="Microsoft Sans Serif"/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High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consistency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translation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minimal semantic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errors</a:t>
            </a:r>
            <a:r>
              <a:rPr sz="1100" spc="-1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80987" y="3709987"/>
            <a:ext cx="8582025" cy="2486025"/>
            <a:chOff x="280987" y="3709987"/>
            <a:chExt cx="8582025" cy="2486025"/>
          </a:xfrm>
        </p:grpSpPr>
        <p:sp>
          <p:nvSpPr>
            <p:cNvPr id="17" name="object 17"/>
            <p:cNvSpPr/>
            <p:nvPr/>
          </p:nvSpPr>
          <p:spPr>
            <a:xfrm>
              <a:off x="285750" y="3714750"/>
              <a:ext cx="8572500" cy="2476500"/>
            </a:xfrm>
            <a:custGeom>
              <a:avLst/>
              <a:gdLst/>
              <a:ahLst/>
              <a:cxnLst/>
              <a:rect l="l" t="t" r="r" b="b"/>
              <a:pathLst>
                <a:path w="8572500" h="2476500">
                  <a:moveTo>
                    <a:pt x="8458209" y="2476499"/>
                  </a:move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8458209" y="0"/>
                  </a:lnTo>
                  <a:lnTo>
                    <a:pt x="8501946" y="8699"/>
                  </a:lnTo>
                  <a:lnTo>
                    <a:pt x="8539024" y="33474"/>
                  </a:lnTo>
                  <a:lnTo>
                    <a:pt x="8563800" y="70553"/>
                  </a:lnTo>
                  <a:lnTo>
                    <a:pt x="8572499" y="114290"/>
                  </a:lnTo>
                  <a:lnTo>
                    <a:pt x="8572499" y="2362209"/>
                  </a:lnTo>
                  <a:lnTo>
                    <a:pt x="8563518" y="2406696"/>
                  </a:lnTo>
                  <a:lnTo>
                    <a:pt x="8539025" y="2443025"/>
                  </a:lnTo>
                  <a:lnTo>
                    <a:pt x="8502696" y="2467518"/>
                  </a:lnTo>
                  <a:lnTo>
                    <a:pt x="8458209" y="24764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750" y="3714750"/>
              <a:ext cx="8572500" cy="2476500"/>
            </a:xfrm>
            <a:custGeom>
              <a:avLst/>
              <a:gdLst/>
              <a:ahLst/>
              <a:cxnLst/>
              <a:rect l="l" t="t" r="r" b="b"/>
              <a:pathLst>
                <a:path w="8572500" h="2476500">
                  <a:moveTo>
                    <a:pt x="0" y="114290"/>
                  </a:move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8458209" y="0"/>
                  </a:lnTo>
                  <a:lnTo>
                    <a:pt x="8501946" y="8699"/>
                  </a:lnTo>
                  <a:lnTo>
                    <a:pt x="8539024" y="33474"/>
                  </a:lnTo>
                  <a:lnTo>
                    <a:pt x="8563800" y="70553"/>
                  </a:lnTo>
                  <a:lnTo>
                    <a:pt x="8572499" y="114290"/>
                  </a:lnTo>
                  <a:lnTo>
                    <a:pt x="8572499" y="2362209"/>
                  </a:lnTo>
                  <a:lnTo>
                    <a:pt x="8563518" y="2406696"/>
                  </a:lnTo>
                  <a:lnTo>
                    <a:pt x="8539025" y="2443025"/>
                  </a:lnTo>
                  <a:lnTo>
                    <a:pt x="8502696" y="2467518"/>
                  </a:lnTo>
                  <a:lnTo>
                    <a:pt x="8458209" y="2476499"/>
                  </a:ln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89870" y="3796041"/>
            <a:ext cx="1963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E293B"/>
                </a:solidFill>
                <a:latin typeface="Calibri"/>
                <a:cs typeface="Calibri"/>
              </a:rPr>
              <a:t>System</a:t>
            </a:r>
            <a:r>
              <a:rPr sz="1200" b="1" spc="5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B"/>
                </a:solidFill>
                <a:latin typeface="Calibri"/>
                <a:cs typeface="Calibri"/>
              </a:rPr>
              <a:t>Performance</a:t>
            </a:r>
            <a:r>
              <a:rPr sz="1200" b="1" spc="1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B"/>
                </a:solidFill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6250" y="4095750"/>
            <a:ext cx="8191500" cy="333375"/>
          </a:xfrm>
          <a:custGeom>
            <a:avLst/>
            <a:gdLst/>
            <a:ahLst/>
            <a:cxnLst/>
            <a:rect l="l" t="t" r="r" b="b"/>
            <a:pathLst>
              <a:path w="8191500" h="333375">
                <a:moveTo>
                  <a:pt x="8153409" y="333299"/>
                </a:moveTo>
                <a:lnTo>
                  <a:pt x="38089" y="333299"/>
                </a:lnTo>
                <a:lnTo>
                  <a:pt x="23263" y="330306"/>
                </a:lnTo>
                <a:lnTo>
                  <a:pt x="11156" y="322143"/>
                </a:lnTo>
                <a:lnTo>
                  <a:pt x="2993" y="310036"/>
                </a:lnTo>
                <a:lnTo>
                  <a:pt x="0" y="295210"/>
                </a:lnTo>
                <a:lnTo>
                  <a:pt x="0" y="38089"/>
                </a:lnTo>
                <a:lnTo>
                  <a:pt x="2993" y="23263"/>
                </a:lnTo>
                <a:lnTo>
                  <a:pt x="11156" y="11156"/>
                </a:lnTo>
                <a:lnTo>
                  <a:pt x="23263" y="2993"/>
                </a:lnTo>
                <a:lnTo>
                  <a:pt x="38089" y="0"/>
                </a:lnTo>
                <a:lnTo>
                  <a:pt x="8153409" y="0"/>
                </a:lnTo>
                <a:lnTo>
                  <a:pt x="8188600" y="23513"/>
                </a:lnTo>
                <a:lnTo>
                  <a:pt x="8191499" y="38089"/>
                </a:lnTo>
                <a:lnTo>
                  <a:pt x="8191499" y="295210"/>
                </a:lnTo>
                <a:lnTo>
                  <a:pt x="8188506" y="310036"/>
                </a:lnTo>
                <a:lnTo>
                  <a:pt x="8180343" y="322143"/>
                </a:lnTo>
                <a:lnTo>
                  <a:pt x="8168236" y="330306"/>
                </a:lnTo>
                <a:lnTo>
                  <a:pt x="8153409" y="3332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9165" y="4137813"/>
            <a:ext cx="7962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488954" y="4137813"/>
            <a:ext cx="9290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Observation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60588" y="4498403"/>
            <a:ext cx="852169" cy="11303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715"/>
              </a:spcBef>
            </a:pP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85–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90%</a:t>
            </a:r>
            <a:endParaRPr sz="1300">
              <a:latin typeface="Calibri"/>
              <a:cs typeface="Calibri"/>
            </a:endParaRPr>
          </a:p>
          <a:p>
            <a:pPr marL="46990" marR="289560" indent="-27305">
              <a:lnSpc>
                <a:spcPct val="139400"/>
              </a:lnSpc>
            </a:pP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80–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85%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(</a:t>
            </a:r>
            <a:r>
              <a:rPr sz="130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≈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90%)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2–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4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seconds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8800" y="4498403"/>
            <a:ext cx="3150235" cy="140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2050">
              <a:lnSpc>
                <a:spcPct val="139400"/>
              </a:lnSpc>
              <a:spcBef>
                <a:spcPts val="100"/>
              </a:spcBef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Symptom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Detection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Accuracy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Speech</a:t>
            </a:r>
            <a:r>
              <a:rPr sz="13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Recognition</a:t>
            </a:r>
            <a:r>
              <a:rPr sz="13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Accuracy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Translation</a:t>
            </a:r>
            <a:r>
              <a:rPr sz="1300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AccuracyHigh Response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Time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Emergency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DetectionAccurate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 for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critical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cases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14375"/>
          </a:xfrm>
          <a:custGeom>
            <a:avLst/>
            <a:gdLst/>
            <a:ahLst/>
            <a:cxnLst/>
            <a:rect l="l" t="t" r="r" b="b"/>
            <a:pathLst>
              <a:path w="9144000" h="714375">
                <a:moveTo>
                  <a:pt x="9143999" y="714299"/>
                </a:moveTo>
                <a:lnTo>
                  <a:pt x="0" y="7142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7142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Discussion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376237" y="71437"/>
            <a:ext cx="8387080" cy="4886325"/>
            <a:chOff x="376237" y="71437"/>
            <a:chExt cx="8387080" cy="4886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71437"/>
              <a:ext cx="1142999" cy="571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0" y="952500"/>
              <a:ext cx="2667000" cy="4000500"/>
            </a:xfrm>
            <a:custGeom>
              <a:avLst/>
              <a:gdLst/>
              <a:ahLst/>
              <a:cxnLst/>
              <a:rect l="l" t="t" r="r" b="b"/>
              <a:pathLst>
                <a:path w="2667000" h="4000500">
                  <a:moveTo>
                    <a:pt x="2552719" y="4000499"/>
                  </a:moveTo>
                  <a:lnTo>
                    <a:pt x="114280" y="4000499"/>
                  </a:lnTo>
                  <a:lnTo>
                    <a:pt x="69797" y="3991519"/>
                  </a:lnTo>
                  <a:lnTo>
                    <a:pt x="33472" y="3967027"/>
                  </a:lnTo>
                  <a:lnTo>
                    <a:pt x="8980" y="3930702"/>
                  </a:lnTo>
                  <a:lnTo>
                    <a:pt x="0" y="38862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886219"/>
                  </a:lnTo>
                  <a:lnTo>
                    <a:pt x="2658019" y="3930702"/>
                  </a:lnTo>
                  <a:lnTo>
                    <a:pt x="2633527" y="3967027"/>
                  </a:lnTo>
                  <a:lnTo>
                    <a:pt x="2597202" y="3991519"/>
                  </a:lnTo>
                  <a:lnTo>
                    <a:pt x="2552719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952500"/>
              <a:ext cx="2667000" cy="4000500"/>
            </a:xfrm>
            <a:custGeom>
              <a:avLst/>
              <a:gdLst/>
              <a:ahLst/>
              <a:cxnLst/>
              <a:rect l="l" t="t" r="r" b="b"/>
              <a:pathLst>
                <a:path w="2667000" h="40005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886219"/>
                  </a:lnTo>
                  <a:lnTo>
                    <a:pt x="2658019" y="3930702"/>
                  </a:lnTo>
                  <a:lnTo>
                    <a:pt x="2633527" y="3967027"/>
                  </a:lnTo>
                  <a:lnTo>
                    <a:pt x="2597202" y="3991519"/>
                  </a:lnTo>
                  <a:lnTo>
                    <a:pt x="2552719" y="4000499"/>
                  </a:lnTo>
                  <a:lnTo>
                    <a:pt x="114280" y="4000499"/>
                  </a:lnTo>
                  <a:lnTo>
                    <a:pt x="69797" y="3991519"/>
                  </a:lnTo>
                  <a:lnTo>
                    <a:pt x="33472" y="3967027"/>
                  </a:lnTo>
                  <a:lnTo>
                    <a:pt x="8980" y="3930702"/>
                  </a:lnTo>
                  <a:lnTo>
                    <a:pt x="0" y="38862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952512"/>
              <a:ext cx="2667000" cy="429259"/>
            </a:xfrm>
            <a:custGeom>
              <a:avLst/>
              <a:gdLst/>
              <a:ahLst/>
              <a:cxnLst/>
              <a:rect l="l" t="t" r="r" b="b"/>
              <a:pathLst>
                <a:path w="2667000" h="429259">
                  <a:moveTo>
                    <a:pt x="2667000" y="114312"/>
                  </a:moveTo>
                  <a:lnTo>
                    <a:pt x="2658287" y="70561"/>
                  </a:lnTo>
                  <a:lnTo>
                    <a:pt x="2633510" y="33477"/>
                  </a:lnTo>
                  <a:lnTo>
                    <a:pt x="2596426" y="8699"/>
                  </a:lnTo>
                  <a:lnTo>
                    <a:pt x="2552674" y="0"/>
                  </a:lnTo>
                  <a:lnTo>
                    <a:pt x="114312" y="0"/>
                  </a:lnTo>
                  <a:lnTo>
                    <a:pt x="69811" y="8978"/>
                  </a:lnTo>
                  <a:lnTo>
                    <a:pt x="33477" y="33477"/>
                  </a:lnTo>
                  <a:lnTo>
                    <a:pt x="8978" y="69811"/>
                  </a:lnTo>
                  <a:lnTo>
                    <a:pt x="0" y="114312"/>
                  </a:lnTo>
                  <a:lnTo>
                    <a:pt x="0" y="238125"/>
                  </a:lnTo>
                  <a:lnTo>
                    <a:pt x="0" y="314375"/>
                  </a:lnTo>
                  <a:lnTo>
                    <a:pt x="0" y="428625"/>
                  </a:lnTo>
                  <a:lnTo>
                    <a:pt x="113995" y="428625"/>
                  </a:lnTo>
                  <a:lnTo>
                    <a:pt x="114312" y="428688"/>
                  </a:lnTo>
                  <a:lnTo>
                    <a:pt x="2552674" y="428688"/>
                  </a:lnTo>
                  <a:lnTo>
                    <a:pt x="2552979" y="428625"/>
                  </a:lnTo>
                  <a:lnTo>
                    <a:pt x="2667000" y="428625"/>
                  </a:lnTo>
                  <a:lnTo>
                    <a:pt x="2667000" y="314375"/>
                  </a:lnTo>
                  <a:lnTo>
                    <a:pt x="2667000" y="238125"/>
                  </a:lnTo>
                  <a:lnTo>
                    <a:pt x="2667000" y="11431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01108" y="1042263"/>
            <a:ext cx="1825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Interpretation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75" y="1456563"/>
            <a:ext cx="2306955" cy="26771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65100" indent="127000" algn="just">
              <a:lnSpc>
                <a:spcPts val="1650"/>
              </a:lnSpc>
              <a:spcBef>
                <a:spcPts val="18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Improves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communication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&amp;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reduces</a:t>
            </a:r>
            <a:r>
              <a:rPr sz="1400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misunderstanding</a:t>
            </a:r>
            <a:r>
              <a:rPr sz="1400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in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healthcare.</a:t>
            </a:r>
            <a:endParaRPr sz="1400">
              <a:latin typeface="Calibri"/>
              <a:cs typeface="Calibri"/>
            </a:endParaRPr>
          </a:p>
          <a:p>
            <a:pPr marL="12700" marR="125730" indent="127000" algn="just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User-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friendly;</a:t>
            </a:r>
            <a:r>
              <a:rPr sz="1400" spc="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no</a:t>
            </a:r>
            <a:r>
              <a:rPr sz="1400" spc="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technical expertise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required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operate.</a:t>
            </a:r>
            <a:endParaRPr sz="1400">
              <a:latin typeface="Calibri"/>
              <a:cs typeface="Calibri"/>
            </a:endParaRPr>
          </a:p>
          <a:p>
            <a:pPr marL="12700" marR="5080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Provides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quick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preliminary insights,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saving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time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doctors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sz="14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patients.</a:t>
            </a:r>
            <a:endParaRPr sz="1400">
              <a:latin typeface="Calibri"/>
              <a:cs typeface="Calibri"/>
            </a:endParaRPr>
          </a:p>
          <a:p>
            <a:pPr marL="12700" marR="469900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Helps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early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 identification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timely attention.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33737" y="947737"/>
            <a:ext cx="2676525" cy="4010025"/>
            <a:chOff x="3233737" y="947737"/>
            <a:chExt cx="2676525" cy="4010025"/>
          </a:xfrm>
        </p:grpSpPr>
        <p:sp>
          <p:nvSpPr>
            <p:cNvPr id="12" name="object 12"/>
            <p:cNvSpPr/>
            <p:nvPr/>
          </p:nvSpPr>
          <p:spPr>
            <a:xfrm>
              <a:off x="3238500" y="952500"/>
              <a:ext cx="2667000" cy="4000500"/>
            </a:xfrm>
            <a:custGeom>
              <a:avLst/>
              <a:gdLst/>
              <a:ahLst/>
              <a:cxnLst/>
              <a:rect l="l" t="t" r="r" b="b"/>
              <a:pathLst>
                <a:path w="2667000" h="4000500">
                  <a:moveTo>
                    <a:pt x="2552719" y="4000499"/>
                  </a:moveTo>
                  <a:lnTo>
                    <a:pt x="114280" y="4000499"/>
                  </a:lnTo>
                  <a:lnTo>
                    <a:pt x="69797" y="3991519"/>
                  </a:lnTo>
                  <a:lnTo>
                    <a:pt x="33472" y="3967027"/>
                  </a:lnTo>
                  <a:lnTo>
                    <a:pt x="8980" y="3930702"/>
                  </a:lnTo>
                  <a:lnTo>
                    <a:pt x="0" y="38862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886219"/>
                  </a:lnTo>
                  <a:lnTo>
                    <a:pt x="2658019" y="3930702"/>
                  </a:lnTo>
                  <a:lnTo>
                    <a:pt x="2633527" y="3967027"/>
                  </a:lnTo>
                  <a:lnTo>
                    <a:pt x="2597202" y="3991519"/>
                  </a:lnTo>
                  <a:lnTo>
                    <a:pt x="2552719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8500" y="952500"/>
              <a:ext cx="2667000" cy="4000500"/>
            </a:xfrm>
            <a:custGeom>
              <a:avLst/>
              <a:gdLst/>
              <a:ahLst/>
              <a:cxnLst/>
              <a:rect l="l" t="t" r="r" b="b"/>
              <a:pathLst>
                <a:path w="2667000" h="40005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886219"/>
                  </a:lnTo>
                  <a:lnTo>
                    <a:pt x="2658019" y="3930702"/>
                  </a:lnTo>
                  <a:lnTo>
                    <a:pt x="2633527" y="3967027"/>
                  </a:lnTo>
                  <a:lnTo>
                    <a:pt x="2597202" y="3991519"/>
                  </a:lnTo>
                  <a:lnTo>
                    <a:pt x="2552719" y="4000499"/>
                  </a:lnTo>
                  <a:lnTo>
                    <a:pt x="114280" y="4000499"/>
                  </a:lnTo>
                  <a:lnTo>
                    <a:pt x="69797" y="3991519"/>
                  </a:lnTo>
                  <a:lnTo>
                    <a:pt x="33472" y="3967027"/>
                  </a:lnTo>
                  <a:lnTo>
                    <a:pt x="8980" y="3930702"/>
                  </a:lnTo>
                  <a:lnTo>
                    <a:pt x="0" y="38862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38500" y="952512"/>
              <a:ext cx="2667000" cy="429259"/>
            </a:xfrm>
            <a:custGeom>
              <a:avLst/>
              <a:gdLst/>
              <a:ahLst/>
              <a:cxnLst/>
              <a:rect l="l" t="t" r="r" b="b"/>
              <a:pathLst>
                <a:path w="2667000" h="429259">
                  <a:moveTo>
                    <a:pt x="2667000" y="114312"/>
                  </a:moveTo>
                  <a:lnTo>
                    <a:pt x="2658287" y="70561"/>
                  </a:lnTo>
                  <a:lnTo>
                    <a:pt x="2633510" y="33477"/>
                  </a:lnTo>
                  <a:lnTo>
                    <a:pt x="2596426" y="8699"/>
                  </a:lnTo>
                  <a:lnTo>
                    <a:pt x="2552674" y="0"/>
                  </a:lnTo>
                  <a:lnTo>
                    <a:pt x="114312" y="0"/>
                  </a:lnTo>
                  <a:lnTo>
                    <a:pt x="69811" y="8978"/>
                  </a:lnTo>
                  <a:lnTo>
                    <a:pt x="33477" y="33477"/>
                  </a:lnTo>
                  <a:lnTo>
                    <a:pt x="8978" y="69811"/>
                  </a:lnTo>
                  <a:lnTo>
                    <a:pt x="0" y="114312"/>
                  </a:lnTo>
                  <a:lnTo>
                    <a:pt x="0" y="238125"/>
                  </a:lnTo>
                  <a:lnTo>
                    <a:pt x="0" y="314375"/>
                  </a:lnTo>
                  <a:lnTo>
                    <a:pt x="0" y="428625"/>
                  </a:lnTo>
                  <a:lnTo>
                    <a:pt x="113995" y="428625"/>
                  </a:lnTo>
                  <a:lnTo>
                    <a:pt x="114312" y="428688"/>
                  </a:lnTo>
                  <a:lnTo>
                    <a:pt x="2552674" y="428688"/>
                  </a:lnTo>
                  <a:lnTo>
                    <a:pt x="2552979" y="428625"/>
                  </a:lnTo>
                  <a:lnTo>
                    <a:pt x="2667000" y="428625"/>
                  </a:lnTo>
                  <a:lnTo>
                    <a:pt x="2667000" y="314375"/>
                  </a:lnTo>
                  <a:lnTo>
                    <a:pt x="2667000" y="238125"/>
                  </a:lnTo>
                  <a:lnTo>
                    <a:pt x="2667000" y="114312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9410" y="1042263"/>
            <a:ext cx="2044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Comparison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Literature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8675" y="1456563"/>
            <a:ext cx="2366645" cy="28867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27000">
              <a:lnSpc>
                <a:spcPts val="1650"/>
              </a:lnSpc>
              <a:spcBef>
                <a:spcPts val="18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Offers</a:t>
            </a: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voice</a:t>
            </a: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input,</a:t>
            </a: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multilingual support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report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generation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vs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traditional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systems.</a:t>
            </a:r>
            <a:endParaRPr sz="1400">
              <a:latin typeface="Calibri"/>
              <a:cs typeface="Calibri"/>
            </a:endParaRPr>
          </a:p>
          <a:p>
            <a:pPr marL="12700" marR="130175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More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interactive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accessible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than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basic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 checkers.</a:t>
            </a:r>
            <a:endParaRPr sz="1400">
              <a:latin typeface="Calibri"/>
              <a:cs typeface="Calibri"/>
            </a:endParaRPr>
          </a:p>
          <a:p>
            <a:pPr marL="12700" marR="538480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Ensures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consistency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in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evaluation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unlike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manual consultation.</a:t>
            </a:r>
            <a:endParaRPr sz="1400">
              <a:latin typeface="Calibri"/>
              <a:cs typeface="Calibri"/>
            </a:endParaRPr>
          </a:p>
          <a:p>
            <a:pPr marL="12700" marR="541020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Efficiently</a:t>
            </a:r>
            <a:r>
              <a:rPr sz="14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combines translation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 checking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one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app.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91237" y="947737"/>
            <a:ext cx="2676525" cy="4010025"/>
            <a:chOff x="6091237" y="947737"/>
            <a:chExt cx="2676525" cy="4010025"/>
          </a:xfrm>
        </p:grpSpPr>
        <p:sp>
          <p:nvSpPr>
            <p:cNvPr id="18" name="object 18"/>
            <p:cNvSpPr/>
            <p:nvPr/>
          </p:nvSpPr>
          <p:spPr>
            <a:xfrm>
              <a:off x="6096000" y="952500"/>
              <a:ext cx="2667000" cy="4000500"/>
            </a:xfrm>
            <a:custGeom>
              <a:avLst/>
              <a:gdLst/>
              <a:ahLst/>
              <a:cxnLst/>
              <a:rect l="l" t="t" r="r" b="b"/>
              <a:pathLst>
                <a:path w="2667000" h="4000500">
                  <a:moveTo>
                    <a:pt x="2552718" y="4000499"/>
                  </a:moveTo>
                  <a:lnTo>
                    <a:pt x="114280" y="4000499"/>
                  </a:lnTo>
                  <a:lnTo>
                    <a:pt x="69797" y="3991519"/>
                  </a:lnTo>
                  <a:lnTo>
                    <a:pt x="33472" y="3967027"/>
                  </a:lnTo>
                  <a:lnTo>
                    <a:pt x="8980" y="3930702"/>
                  </a:lnTo>
                  <a:lnTo>
                    <a:pt x="0" y="38862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886219"/>
                  </a:lnTo>
                  <a:lnTo>
                    <a:pt x="2658019" y="3930702"/>
                  </a:lnTo>
                  <a:lnTo>
                    <a:pt x="2633527" y="3967027"/>
                  </a:lnTo>
                  <a:lnTo>
                    <a:pt x="2597202" y="3991519"/>
                  </a:lnTo>
                  <a:lnTo>
                    <a:pt x="2552718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6000" y="952500"/>
              <a:ext cx="2667000" cy="4000500"/>
            </a:xfrm>
            <a:custGeom>
              <a:avLst/>
              <a:gdLst/>
              <a:ahLst/>
              <a:cxnLst/>
              <a:rect l="l" t="t" r="r" b="b"/>
              <a:pathLst>
                <a:path w="2667000" h="40005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886219"/>
                  </a:lnTo>
                  <a:lnTo>
                    <a:pt x="2658019" y="3930702"/>
                  </a:lnTo>
                  <a:lnTo>
                    <a:pt x="2633527" y="3967027"/>
                  </a:lnTo>
                  <a:lnTo>
                    <a:pt x="2597202" y="3991519"/>
                  </a:lnTo>
                  <a:lnTo>
                    <a:pt x="2552718" y="4000499"/>
                  </a:lnTo>
                  <a:lnTo>
                    <a:pt x="114280" y="4000499"/>
                  </a:lnTo>
                  <a:lnTo>
                    <a:pt x="69797" y="3991519"/>
                  </a:lnTo>
                  <a:lnTo>
                    <a:pt x="33472" y="3967027"/>
                  </a:lnTo>
                  <a:lnTo>
                    <a:pt x="8980" y="3930702"/>
                  </a:lnTo>
                  <a:lnTo>
                    <a:pt x="0" y="38862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6000" y="952512"/>
              <a:ext cx="2667000" cy="429259"/>
            </a:xfrm>
            <a:custGeom>
              <a:avLst/>
              <a:gdLst/>
              <a:ahLst/>
              <a:cxnLst/>
              <a:rect l="l" t="t" r="r" b="b"/>
              <a:pathLst>
                <a:path w="2667000" h="429259">
                  <a:moveTo>
                    <a:pt x="2667000" y="114312"/>
                  </a:moveTo>
                  <a:lnTo>
                    <a:pt x="2658287" y="70561"/>
                  </a:lnTo>
                  <a:lnTo>
                    <a:pt x="2633510" y="33477"/>
                  </a:lnTo>
                  <a:lnTo>
                    <a:pt x="2596426" y="8699"/>
                  </a:lnTo>
                  <a:lnTo>
                    <a:pt x="2552674" y="0"/>
                  </a:lnTo>
                  <a:lnTo>
                    <a:pt x="114312" y="0"/>
                  </a:lnTo>
                  <a:lnTo>
                    <a:pt x="69811" y="8978"/>
                  </a:lnTo>
                  <a:lnTo>
                    <a:pt x="33477" y="33477"/>
                  </a:lnTo>
                  <a:lnTo>
                    <a:pt x="8978" y="69811"/>
                  </a:lnTo>
                  <a:lnTo>
                    <a:pt x="0" y="114312"/>
                  </a:lnTo>
                  <a:lnTo>
                    <a:pt x="0" y="238125"/>
                  </a:lnTo>
                  <a:lnTo>
                    <a:pt x="0" y="314375"/>
                  </a:lnTo>
                  <a:lnTo>
                    <a:pt x="0" y="428625"/>
                  </a:lnTo>
                  <a:lnTo>
                    <a:pt x="113995" y="428625"/>
                  </a:lnTo>
                  <a:lnTo>
                    <a:pt x="114312" y="428688"/>
                  </a:lnTo>
                  <a:lnTo>
                    <a:pt x="2552674" y="428688"/>
                  </a:lnTo>
                  <a:lnTo>
                    <a:pt x="2552979" y="428625"/>
                  </a:lnTo>
                  <a:lnTo>
                    <a:pt x="2667000" y="428625"/>
                  </a:lnTo>
                  <a:lnTo>
                    <a:pt x="2667000" y="314375"/>
                  </a:lnTo>
                  <a:lnTo>
                    <a:pt x="2667000" y="238125"/>
                  </a:lnTo>
                  <a:lnTo>
                    <a:pt x="2667000" y="114312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66301" y="1042263"/>
            <a:ext cx="925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Implications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26175" y="1456563"/>
            <a:ext cx="2383155" cy="26771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27000">
              <a:lnSpc>
                <a:spcPts val="1650"/>
              </a:lnSpc>
              <a:spcBef>
                <a:spcPts val="18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Works</a:t>
            </a:r>
            <a:r>
              <a:rPr sz="14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predefined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symptom datasets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rules.</a:t>
            </a:r>
            <a:endParaRPr sz="1400">
              <a:latin typeface="Calibri"/>
              <a:cs typeface="Calibri"/>
            </a:endParaRPr>
          </a:p>
          <a:p>
            <a:pPr marL="12700" marR="469900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Cannot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provide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accurate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medical</a:t>
            </a:r>
            <a:r>
              <a:rPr sz="14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diagnosis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like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a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professional</a:t>
            </a:r>
            <a:r>
              <a:rPr sz="14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doctor.</a:t>
            </a:r>
            <a:endParaRPr sz="1400">
              <a:latin typeface="Calibri"/>
              <a:cs typeface="Calibri"/>
            </a:endParaRPr>
          </a:p>
          <a:p>
            <a:pPr marL="12700" marR="272415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Performance</a:t>
            </a:r>
            <a:r>
              <a:rPr sz="14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depends</a:t>
            </a:r>
            <a:r>
              <a:rPr sz="14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on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internet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connectivity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API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response.</a:t>
            </a:r>
            <a:endParaRPr sz="1400">
              <a:latin typeface="Calibri"/>
              <a:cs typeface="Calibri"/>
            </a:endParaRPr>
          </a:p>
          <a:p>
            <a:pPr marL="12700" marR="49530" indent="127000">
              <a:lnSpc>
                <a:spcPts val="1650"/>
              </a:lnSpc>
              <a:spcBef>
                <a:spcPts val="900"/>
              </a:spcBef>
              <a:buChar char="•"/>
              <a:tabLst>
                <a:tab pos="139700" algn="l"/>
              </a:tabLst>
            </a:pP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Accuracy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may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decrease</a:t>
            </a:r>
            <a:r>
              <a:rPr sz="14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due</a:t>
            </a:r>
            <a:r>
              <a:rPr sz="1400" spc="-25" dirty="0">
                <a:solidFill>
                  <a:srgbClr val="334155"/>
                </a:solidFill>
                <a:latin typeface="Calibri"/>
                <a:cs typeface="Calibri"/>
              </a:rPr>
              <a:t> to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background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noise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4155"/>
                </a:solidFill>
                <a:latin typeface="Calibri"/>
                <a:cs typeface="Calibri"/>
              </a:rPr>
              <a:t>or</a:t>
            </a:r>
            <a:r>
              <a:rPr sz="14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4155"/>
                </a:solidFill>
                <a:latin typeface="Calibri"/>
                <a:cs typeface="Calibri"/>
              </a:rPr>
              <a:t>unclear speech.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43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0" y="142875"/>
            <a:ext cx="1333499" cy="6668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6237" y="1233487"/>
            <a:ext cx="2676525" cy="4962525"/>
            <a:chOff x="376237" y="1233487"/>
            <a:chExt cx="2676525" cy="4962525"/>
          </a:xfrm>
        </p:grpSpPr>
        <p:sp>
          <p:nvSpPr>
            <p:cNvPr id="5" name="object 5"/>
            <p:cNvSpPr/>
            <p:nvPr/>
          </p:nvSpPr>
          <p:spPr>
            <a:xfrm>
              <a:off x="381000" y="1238250"/>
              <a:ext cx="2667000" cy="4953000"/>
            </a:xfrm>
            <a:custGeom>
              <a:avLst/>
              <a:gdLst/>
              <a:ahLst/>
              <a:cxnLst/>
              <a:rect l="l" t="t" r="r" b="b"/>
              <a:pathLst>
                <a:path w="2667000" h="4953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38719"/>
                  </a:lnTo>
                  <a:lnTo>
                    <a:pt x="2658019" y="4883202"/>
                  </a:lnTo>
                  <a:lnTo>
                    <a:pt x="2633527" y="4919527"/>
                  </a:lnTo>
                  <a:lnTo>
                    <a:pt x="2597202" y="4944019"/>
                  </a:lnTo>
                  <a:lnTo>
                    <a:pt x="2552719" y="4952999"/>
                  </a:lnTo>
                  <a:lnTo>
                    <a:pt x="114280" y="4952999"/>
                  </a:lnTo>
                  <a:lnTo>
                    <a:pt x="69797" y="4944019"/>
                  </a:lnTo>
                  <a:lnTo>
                    <a:pt x="33472" y="4919527"/>
                  </a:lnTo>
                  <a:lnTo>
                    <a:pt x="8980" y="4883202"/>
                  </a:lnTo>
                  <a:lnTo>
                    <a:pt x="0" y="4838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00" y="123826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6197" y="1379422"/>
            <a:ext cx="15754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Summary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175" y="1885696"/>
            <a:ext cx="2345055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>
                <a:solidFill>
                  <a:srgbClr val="334155"/>
                </a:solidFill>
                <a:latin typeface="Calibri"/>
                <a:cs typeface="Calibri"/>
              </a:rPr>
              <a:t>Smart</a:t>
            </a:r>
            <a:r>
              <a:rPr sz="1300" spc="-4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300" spc="-4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Assistant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effective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solution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basic healthcare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communication.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175" y="2638171"/>
            <a:ext cx="237934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It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integrates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multiple</a:t>
            </a:r>
            <a:r>
              <a:rPr sz="13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AI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technologies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into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single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platform.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75" y="3190621"/>
            <a:ext cx="2331085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system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simplifies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interaction between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patients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healthcare providers.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33737" y="1233487"/>
            <a:ext cx="2676525" cy="4962525"/>
            <a:chOff x="3233737" y="1233487"/>
            <a:chExt cx="2676525" cy="4962525"/>
          </a:xfrm>
        </p:grpSpPr>
        <p:sp>
          <p:nvSpPr>
            <p:cNvPr id="12" name="object 12"/>
            <p:cNvSpPr/>
            <p:nvPr/>
          </p:nvSpPr>
          <p:spPr>
            <a:xfrm>
              <a:off x="3238500" y="1238250"/>
              <a:ext cx="2667000" cy="4953000"/>
            </a:xfrm>
            <a:custGeom>
              <a:avLst/>
              <a:gdLst/>
              <a:ahLst/>
              <a:cxnLst/>
              <a:rect l="l" t="t" r="r" b="b"/>
              <a:pathLst>
                <a:path w="2667000" h="4953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38719"/>
                  </a:lnTo>
                  <a:lnTo>
                    <a:pt x="2658019" y="4883202"/>
                  </a:lnTo>
                  <a:lnTo>
                    <a:pt x="2633527" y="4919527"/>
                  </a:lnTo>
                  <a:lnTo>
                    <a:pt x="2597202" y="4944019"/>
                  </a:lnTo>
                  <a:lnTo>
                    <a:pt x="2552719" y="4952999"/>
                  </a:lnTo>
                  <a:lnTo>
                    <a:pt x="114280" y="4952999"/>
                  </a:lnTo>
                  <a:lnTo>
                    <a:pt x="69797" y="4944019"/>
                  </a:lnTo>
                  <a:lnTo>
                    <a:pt x="33472" y="4919527"/>
                  </a:lnTo>
                  <a:lnTo>
                    <a:pt x="8980" y="4883202"/>
                  </a:lnTo>
                  <a:lnTo>
                    <a:pt x="0" y="4838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8500" y="123826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52787" y="1379422"/>
            <a:ext cx="14376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Major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Outcomes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8675" y="1885696"/>
            <a:ext cx="1746250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Enables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faster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symptom understanding</a:t>
            </a:r>
            <a:r>
              <a:rPr sz="1300" spc="-6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communication.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8675" y="2638171"/>
            <a:ext cx="2218690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Improves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accessibility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users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language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barriers.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8675" y="3190621"/>
            <a:ext cx="226631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Generates</a:t>
            </a:r>
            <a:r>
              <a:rPr sz="13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useful</a:t>
            </a:r>
            <a:r>
              <a:rPr sz="13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300" spc="-6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reports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3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initial</a:t>
            </a:r>
            <a:r>
              <a:rPr sz="1300" spc="-5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guidance.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8675" y="3743071"/>
            <a:ext cx="230441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Enhances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overall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efficiency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in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handling</a:t>
            </a:r>
            <a:r>
              <a:rPr sz="13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basic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queries.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91237" y="1233487"/>
            <a:ext cx="2676525" cy="4962525"/>
            <a:chOff x="6091237" y="1233487"/>
            <a:chExt cx="2676525" cy="4962525"/>
          </a:xfrm>
        </p:grpSpPr>
        <p:sp>
          <p:nvSpPr>
            <p:cNvPr id="20" name="object 20"/>
            <p:cNvSpPr/>
            <p:nvPr/>
          </p:nvSpPr>
          <p:spPr>
            <a:xfrm>
              <a:off x="6096000" y="1238250"/>
              <a:ext cx="2667000" cy="4953000"/>
            </a:xfrm>
            <a:custGeom>
              <a:avLst/>
              <a:gdLst/>
              <a:ahLst/>
              <a:cxnLst/>
              <a:rect l="l" t="t" r="r" b="b"/>
              <a:pathLst>
                <a:path w="2667000" h="4953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4838719"/>
                  </a:lnTo>
                  <a:lnTo>
                    <a:pt x="2658019" y="4883202"/>
                  </a:lnTo>
                  <a:lnTo>
                    <a:pt x="2633527" y="4919527"/>
                  </a:lnTo>
                  <a:lnTo>
                    <a:pt x="2597202" y="4944019"/>
                  </a:lnTo>
                  <a:lnTo>
                    <a:pt x="2552718" y="4952999"/>
                  </a:lnTo>
                  <a:lnTo>
                    <a:pt x="114280" y="4952999"/>
                  </a:lnTo>
                  <a:lnTo>
                    <a:pt x="69797" y="4944019"/>
                  </a:lnTo>
                  <a:lnTo>
                    <a:pt x="33472" y="4919527"/>
                  </a:lnTo>
                  <a:lnTo>
                    <a:pt x="8980" y="4883202"/>
                  </a:lnTo>
                  <a:lnTo>
                    <a:pt x="0" y="4838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0" y="1238262"/>
              <a:ext cx="2667000" cy="572135"/>
            </a:xfrm>
            <a:custGeom>
              <a:avLst/>
              <a:gdLst/>
              <a:ahLst/>
              <a:cxnLst/>
              <a:rect l="l" t="t" r="r" b="b"/>
              <a:pathLst>
                <a:path w="2667000" h="572135">
                  <a:moveTo>
                    <a:pt x="2667000" y="114300"/>
                  </a:moveTo>
                  <a:lnTo>
                    <a:pt x="2658287" y="70548"/>
                  </a:lnTo>
                  <a:lnTo>
                    <a:pt x="2633510" y="33477"/>
                  </a:lnTo>
                  <a:lnTo>
                    <a:pt x="2596438" y="8699"/>
                  </a:lnTo>
                  <a:lnTo>
                    <a:pt x="2552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285750"/>
                  </a:lnTo>
                  <a:lnTo>
                    <a:pt x="0" y="457200"/>
                  </a:lnTo>
                  <a:lnTo>
                    <a:pt x="0" y="571639"/>
                  </a:lnTo>
                  <a:lnTo>
                    <a:pt x="2667000" y="571639"/>
                  </a:lnTo>
                  <a:lnTo>
                    <a:pt x="2667000" y="457200"/>
                  </a:lnTo>
                  <a:lnTo>
                    <a:pt x="2667000" y="285750"/>
                  </a:lnTo>
                  <a:lnTo>
                    <a:pt x="2667000" y="114300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66618" y="1379422"/>
            <a:ext cx="11258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r>
              <a:rPr sz="16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26175" y="1885696"/>
            <a:ext cx="2007235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Implementation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machine learning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models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better prediction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accuracy.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26175" y="2638171"/>
            <a:ext cx="222821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Integration</a:t>
            </a:r>
            <a:r>
              <a:rPr sz="13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IoT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devices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334155"/>
                </a:solidFill>
                <a:latin typeface="Calibri"/>
                <a:cs typeface="Calibri"/>
              </a:rPr>
              <a:t>for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real-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time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monitoring.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26175" y="3190621"/>
            <a:ext cx="1974850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Expansion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into</a:t>
            </a:r>
            <a:r>
              <a:rPr sz="13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mobile applications</a:t>
            </a:r>
            <a:r>
              <a:rPr sz="13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cloud-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based systems.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26175" y="3943096"/>
            <a:ext cx="2245995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9380">
              <a:lnSpc>
                <a:spcPct val="101000"/>
              </a:lnSpc>
              <a:spcBef>
                <a:spcPts val="8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Addition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3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advanced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features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like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334155"/>
                </a:solidFill>
                <a:latin typeface="Calibri"/>
                <a:cs typeface="Calibri"/>
              </a:rPr>
              <a:t>real-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time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doctor</a:t>
            </a:r>
            <a:r>
              <a:rPr sz="13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consultation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130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34155"/>
                </a:solidFill>
                <a:latin typeface="Calibri"/>
                <a:cs typeface="Calibri"/>
              </a:rPr>
              <a:t>analytics.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3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24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43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0" y="142875"/>
            <a:ext cx="1333499" cy="6668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4770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3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809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1224" y="1138237"/>
            <a:ext cx="8936355" cy="5153025"/>
            <a:chOff x="91224" y="1138237"/>
            <a:chExt cx="8936355" cy="5153025"/>
          </a:xfrm>
        </p:grpSpPr>
        <p:sp>
          <p:nvSpPr>
            <p:cNvPr id="7" name="object 7"/>
            <p:cNvSpPr/>
            <p:nvPr/>
          </p:nvSpPr>
          <p:spPr>
            <a:xfrm>
              <a:off x="95986" y="1143000"/>
              <a:ext cx="8926830" cy="5143500"/>
            </a:xfrm>
            <a:custGeom>
              <a:avLst/>
              <a:gdLst/>
              <a:ahLst/>
              <a:cxnLst/>
              <a:rect l="l" t="t" r="r" b="b"/>
              <a:pathLst>
                <a:path w="8926830" h="5143500">
                  <a:moveTo>
                    <a:pt x="8812541" y="5143499"/>
                  </a:moveTo>
                  <a:lnTo>
                    <a:pt x="114288" y="5143499"/>
                  </a:lnTo>
                  <a:lnTo>
                    <a:pt x="69802" y="5134518"/>
                  </a:lnTo>
                  <a:lnTo>
                    <a:pt x="33474" y="5110025"/>
                  </a:lnTo>
                  <a:lnTo>
                    <a:pt x="8981" y="5073697"/>
                  </a:lnTo>
                  <a:lnTo>
                    <a:pt x="0" y="5029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8812541" y="0"/>
                  </a:lnTo>
                  <a:lnTo>
                    <a:pt x="8856277" y="8699"/>
                  </a:lnTo>
                  <a:lnTo>
                    <a:pt x="8893355" y="33474"/>
                  </a:lnTo>
                  <a:lnTo>
                    <a:pt x="8918130" y="70552"/>
                  </a:lnTo>
                  <a:lnTo>
                    <a:pt x="8926829" y="114288"/>
                  </a:lnTo>
                  <a:lnTo>
                    <a:pt x="8926829" y="5029211"/>
                  </a:lnTo>
                  <a:lnTo>
                    <a:pt x="8917848" y="5073697"/>
                  </a:lnTo>
                  <a:lnTo>
                    <a:pt x="8893355" y="5110025"/>
                  </a:lnTo>
                  <a:lnTo>
                    <a:pt x="8857027" y="5134518"/>
                  </a:lnTo>
                  <a:lnTo>
                    <a:pt x="8812541" y="51434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5986" y="1143000"/>
              <a:ext cx="8926830" cy="5143500"/>
            </a:xfrm>
            <a:custGeom>
              <a:avLst/>
              <a:gdLst/>
              <a:ahLst/>
              <a:cxnLst/>
              <a:rect l="l" t="t" r="r" b="b"/>
              <a:pathLst>
                <a:path w="8926830" h="5143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8812541" y="0"/>
                  </a:lnTo>
                  <a:lnTo>
                    <a:pt x="8856277" y="8699"/>
                  </a:lnTo>
                  <a:lnTo>
                    <a:pt x="8893355" y="33474"/>
                  </a:lnTo>
                  <a:lnTo>
                    <a:pt x="8918130" y="70552"/>
                  </a:lnTo>
                  <a:lnTo>
                    <a:pt x="8926829" y="114288"/>
                  </a:lnTo>
                  <a:lnTo>
                    <a:pt x="8926829" y="5029211"/>
                  </a:lnTo>
                  <a:lnTo>
                    <a:pt x="8917848" y="5073697"/>
                  </a:lnTo>
                  <a:lnTo>
                    <a:pt x="8893355" y="5110025"/>
                  </a:lnTo>
                  <a:lnTo>
                    <a:pt x="8857027" y="5134518"/>
                  </a:lnTo>
                  <a:lnTo>
                    <a:pt x="8812541" y="5143499"/>
                  </a:lnTo>
                  <a:lnTo>
                    <a:pt x="114288" y="5143499"/>
                  </a:lnTo>
                  <a:lnTo>
                    <a:pt x="69802" y="5134518"/>
                  </a:lnTo>
                  <a:lnTo>
                    <a:pt x="33474" y="5110025"/>
                  </a:lnTo>
                  <a:lnTo>
                    <a:pt x="8981" y="5073697"/>
                  </a:lnTo>
                  <a:lnTo>
                    <a:pt x="0" y="5029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9475" y="1164454"/>
            <a:ext cx="8425815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Jurafsky,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D.,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Martin,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J.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H.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(2023).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Speech</a:t>
            </a:r>
            <a:r>
              <a:rPr sz="1500" i="1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500" i="1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language</a:t>
            </a:r>
            <a:r>
              <a:rPr sz="1500" i="1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processing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Pearson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Education,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3rd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Edition.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1500">
              <a:latin typeface="Calibri"/>
              <a:cs typeface="Calibri"/>
            </a:endParaRPr>
          </a:p>
          <a:p>
            <a:pPr marL="203200" marR="172720" indent="-190500">
              <a:lnSpc>
                <a:spcPct val="100000"/>
              </a:lnSpc>
            </a:pP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Vaswani,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A.,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Shazeer,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N.,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Parmar,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N.,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et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al.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(2017).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Attention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is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all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you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need.</a:t>
            </a:r>
            <a:r>
              <a:rPr sz="1500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Advances</a:t>
            </a:r>
            <a:r>
              <a:rPr sz="1500" i="1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Neural</a:t>
            </a:r>
            <a:r>
              <a:rPr sz="1500" i="1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Information Processing</a:t>
            </a:r>
            <a:r>
              <a:rPr sz="1500" i="1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Systems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,</a:t>
            </a:r>
            <a:r>
              <a:rPr sz="15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30,</a:t>
            </a:r>
            <a:r>
              <a:rPr sz="1500" spc="-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5998–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6008.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500">
              <a:latin typeface="Calibri"/>
              <a:cs typeface="Calibri"/>
            </a:endParaRPr>
          </a:p>
          <a:p>
            <a:pPr marL="203200" marR="5080" indent="-190500">
              <a:lnSpc>
                <a:spcPct val="100000"/>
              </a:lnSpc>
            </a:pP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Devlin,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J.,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Chang,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M.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334155"/>
                </a:solidFill>
                <a:latin typeface="Calibri"/>
                <a:cs typeface="Calibri"/>
              </a:rPr>
              <a:t>W.,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Lee,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K.,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Toutanova,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K.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(2019).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BERT: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Pre-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training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deep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bidirectional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transformers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sz="150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language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understanding.</a:t>
            </a:r>
            <a:r>
              <a:rPr sz="1500" spc="-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Proceedings</a:t>
            </a:r>
            <a:r>
              <a:rPr sz="1500" i="1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sz="1500" i="1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20" dirty="0">
                <a:solidFill>
                  <a:srgbClr val="334155"/>
                </a:solidFill>
                <a:latin typeface="Calibri"/>
                <a:cs typeface="Calibri"/>
              </a:rPr>
              <a:t>NAACL-HLT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,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4171–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4186.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500">
              <a:latin typeface="Calibri"/>
              <a:cs typeface="Calibri"/>
            </a:endParaRPr>
          </a:p>
          <a:p>
            <a:pPr marL="203200" marR="2164080" indent="-190500">
              <a:lnSpc>
                <a:spcPct val="100000"/>
              </a:lnSpc>
            </a:pP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Google</a:t>
            </a:r>
            <a:r>
              <a:rPr sz="15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Cloud.</a:t>
            </a:r>
            <a:r>
              <a:rPr sz="15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(2024).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Speech-</a:t>
            </a:r>
            <a:r>
              <a:rPr sz="1500" i="1" spc="-20" dirty="0">
                <a:solidFill>
                  <a:srgbClr val="334155"/>
                </a:solidFill>
                <a:latin typeface="Calibri"/>
                <a:cs typeface="Calibri"/>
              </a:rPr>
              <a:t>to-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text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API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documentation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Google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Platform. </a:t>
            </a:r>
            <a:r>
              <a:rPr sz="15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https://cloud.google.com/speech-</a:t>
            </a:r>
            <a:r>
              <a:rPr sz="15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to-</a:t>
            </a:r>
            <a:r>
              <a:rPr sz="15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text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500">
              <a:latin typeface="Calibri"/>
              <a:cs typeface="Calibri"/>
            </a:endParaRPr>
          </a:p>
          <a:p>
            <a:pPr marL="203200" marR="1955164" indent="-190500">
              <a:lnSpc>
                <a:spcPct val="100000"/>
              </a:lnSpc>
            </a:pP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Google</a:t>
            </a:r>
            <a:r>
              <a:rPr sz="150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Cloud.</a:t>
            </a:r>
            <a:r>
              <a:rPr sz="15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(2024).</a:t>
            </a:r>
            <a:r>
              <a:rPr sz="150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translation</a:t>
            </a:r>
            <a:r>
              <a:rPr sz="1500" i="1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API</a:t>
            </a:r>
            <a:r>
              <a:rPr sz="1500" i="1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documentation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Google</a:t>
            </a:r>
            <a:r>
              <a:rPr sz="15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150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Platform. </a:t>
            </a:r>
            <a:r>
              <a:rPr sz="15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https://cloud.google.com/translate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1500">
              <a:latin typeface="Calibri"/>
              <a:cs typeface="Calibri"/>
            </a:endParaRPr>
          </a:p>
          <a:p>
            <a:pPr marL="203200" marR="1085850" indent="-190500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World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34155"/>
                </a:solidFill>
                <a:latin typeface="Calibri"/>
                <a:cs typeface="Calibri"/>
              </a:rPr>
              <a:t>Organization.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(2023).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Digital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health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500" i="1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artificial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Calibri"/>
                <a:cs typeface="Calibri"/>
              </a:rPr>
              <a:t>intelligence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in</a:t>
            </a:r>
            <a:r>
              <a:rPr sz="1500" i="1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334155"/>
                </a:solidFill>
                <a:latin typeface="Calibri"/>
                <a:cs typeface="Calibri"/>
              </a:rPr>
              <a:t>healthcare</a:t>
            </a:r>
            <a:r>
              <a:rPr sz="1500" dirty="0">
                <a:solidFill>
                  <a:srgbClr val="334155"/>
                </a:solidFill>
                <a:latin typeface="Calibri"/>
                <a:cs typeface="Calibri"/>
              </a:rPr>
              <a:t>.</a:t>
            </a:r>
            <a:r>
              <a:rPr sz="150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34155"/>
                </a:solidFill>
                <a:latin typeface="Calibri"/>
                <a:cs typeface="Calibri"/>
              </a:rPr>
              <a:t>WHO. </a:t>
            </a:r>
            <a:r>
              <a:rPr sz="15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https://www.who.int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DRIEMS</a:t>
            </a:r>
            <a:r>
              <a:rPr spc="-10" dirty="0"/>
              <a:t> University</a:t>
            </a:r>
            <a:r>
              <a:rPr spc="-5" dirty="0"/>
              <a:t> </a:t>
            </a:r>
            <a:r>
              <a:rPr dirty="0"/>
              <a:t>•</a:t>
            </a:r>
            <a:r>
              <a:rPr spc="-5" dirty="0"/>
              <a:t> </a:t>
            </a:r>
            <a:r>
              <a:rPr dirty="0"/>
              <a:t>Smart</a:t>
            </a:r>
            <a:r>
              <a:rPr spc="-5" dirty="0"/>
              <a:t> </a:t>
            </a:r>
            <a:r>
              <a:rPr spc="-10" dirty="0"/>
              <a:t>Healthcare</a:t>
            </a:r>
            <a:r>
              <a:rPr spc="-5" dirty="0"/>
              <a:t> </a:t>
            </a:r>
            <a:r>
              <a:rPr spc="-10" dirty="0"/>
              <a:t>Voice</a:t>
            </a:r>
            <a:r>
              <a:rPr spc="-5" dirty="0"/>
              <a:t> </a:t>
            </a:r>
            <a:r>
              <a:rPr spc="-10" dirty="0"/>
              <a:t>Assistant</a:t>
            </a:r>
            <a:r>
              <a:rPr spc="-5" dirty="0"/>
              <a:t> </a:t>
            </a:r>
            <a:r>
              <a:rPr spc="-10" dirty="0"/>
              <a:t>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1129</Words>
  <Application>Microsoft Office PowerPoint</Application>
  <PresentationFormat>On-screen Show (4:3)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Microsoft Sans Serif</vt:lpstr>
      <vt:lpstr>Office Theme</vt:lpstr>
      <vt:lpstr>SMART HEALTHCARE ASSISTANT</vt:lpstr>
      <vt:lpstr>Table of Contents</vt:lpstr>
      <vt:lpstr>Introduction</vt:lpstr>
      <vt:lpstr>Objectives</vt:lpstr>
      <vt:lpstr>Literature Review</vt:lpstr>
      <vt:lpstr>Methodology</vt:lpstr>
      <vt:lpstr>Results</vt:lpstr>
      <vt:lpstr>Discussion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Jasmine Tripathy</cp:lastModifiedBy>
  <cp:revision>2</cp:revision>
  <dcterms:created xsi:type="dcterms:W3CDTF">2026-04-03T04:40:56Z</dcterms:created>
  <dcterms:modified xsi:type="dcterms:W3CDTF">2026-04-03T05:20:59Z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2026-04-03T00:00:00Z</vt:filetime>
  </property>
</Properties>
</file>